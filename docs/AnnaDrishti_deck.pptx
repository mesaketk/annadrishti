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ory" id="{483b85f1-38e3-e1e0-38cb-9b77fae531fa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Evidence" id="{7976072a-196f-1ed8-87b4-52cf15da2e76}">
          <p14:sldIdLst>
            <p14:sldId id="262"/>
            <p14:sldId id="263"/>
          </p14:sldIdLst>
        </p14:section>
        <p14:section name="Gemini" id="{b16074cf-06e6-33c8-47b8-c7f87483d8fa}">
          <p14:sldIdLst>
            <p14:sldId id="264"/>
            <p14:sldId id="265"/>
          </p14:sldIdLst>
        </p14:section>
        <p14:section name="Action" id="{89eb61f4-8ea5-7c2a-fcc0-04ac98876f86}">
          <p14:sldIdLst>
            <p14:sldId id="266"/>
          </p14:sldIdLst>
        </p14:section>
        <p14:section name="Build" id="{43c5fa92-101b-ddf7-1cf6-c46ab5c1e61d}">
          <p14:sldIdLst>
            <p14:sldId id="267"/>
          </p14:sldIdLst>
        </p14:section>
        <p14:section name="Impact" id="{4a82a9be-c7fa-4cbe-3f3d-b8995ca6c34d}">
          <p14:sldIdLst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IMD-grid district means vs 2000-24 mean</c:v>
                </c:pt>
              </c:strCache>
            </c:strRef>
          </c:tx>
          <c:spPr>
            <a:solidFill>
              <a:srgbClr val="F5B942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DEBE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2002</c:v>
                  </c:pt>
                  <c:pt idx="1">
                    <c:v>2009</c:v>
                  </c:pt>
                  <c:pt idx="2">
                    <c:v>2015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-19.4</c:v>
                </c:pt>
                <c:pt idx="1">
                  <c:v>-15.8</c:v>
                </c:pt>
                <c:pt idx="2">
                  <c:v>-10.5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IMD reference (vs 1971-2020 LPA)</c:v>
                </c:pt>
              </c:strCache>
            </c:strRef>
          </c:tx>
          <c:spPr>
            <a:solidFill>
              <a:srgbClr val="D6454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DEBE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2002</c:v>
                  </c:pt>
                  <c:pt idx="1">
                    <c:v>2009</c:v>
                  </c:pt>
                  <c:pt idx="2">
                    <c:v>2015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-19</c:v>
                </c:pt>
                <c:pt idx="1">
                  <c:v>-22</c:v>
                </c:pt>
                <c:pt idx="2">
                  <c:v>-14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EDEBE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3B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"/>
          <c:min val="-30"/>
        </c:scaling>
        <c:delete val="0"/>
        <c:axPos val="l"/>
        <c:majorGridlines>
          <c:spPr>
            <a:ln w="6350" cap="flat">
              <a:solidFill>
                <a:srgbClr val="343D5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3B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9AA3B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Analog score, in-sample</c:v>
                </c:pt>
              </c:strCache>
            </c:strRef>
          </c:tx>
          <c:spPr>
            <a:solidFill>
              <a:srgbClr val="F5B94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DEBE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2009</c:v>
                  </c:pt>
                  <c:pt idx="1">
                    <c:v>2014</c:v>
                  </c:pt>
                  <c:pt idx="2">
                    <c:v>2015</c:v>
                  </c:pt>
                  <c:pt idx="3">
                    <c:v>2023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-16.1</c:v>
                </c:pt>
                <c:pt idx="1">
                  <c:v>-4</c:v>
                </c:pt>
                <c:pt idx="2">
                  <c:v>-27.3</c:v>
                </c:pt>
                <c:pt idx="3">
                  <c:v>-10.5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LightGBM, out-of-sample</c:v>
                </c:pt>
              </c:strCache>
            </c:strRef>
          </c:tx>
          <c:spPr>
            <a:solidFill>
              <a:srgbClr val="5FB89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DEBE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2009</c:v>
                  </c:pt>
                  <c:pt idx="1">
                    <c:v>2014</c:v>
                  </c:pt>
                  <c:pt idx="2">
                    <c:v>2015</c:v>
                  </c:pt>
                  <c:pt idx="3">
                    <c:v>2023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-16.3</c:v>
                </c:pt>
                <c:pt idx="1">
                  <c:v>-25</c:v>
                </c:pt>
                <c:pt idx="2">
                  <c:v>-12.1</c:v>
                </c:pt>
                <c:pt idx="3">
                  <c:v>-11.3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EDEBE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high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3B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"/>
          <c:min val="-35"/>
        </c:scaling>
        <c:delete val="0"/>
        <c:axPos val="l"/>
        <c:majorGridlines>
          <c:spPr>
            <a:ln w="6350" cap="flat">
              <a:solidFill>
                <a:srgbClr val="343D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3B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rgbClr val="9AA3B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AnnaDrishti: a district-level early warning map that chains climate, crops, nutrition and buffer stock, with Gemini as the analyst. Built on Earth Engine, WeatherNext, Gemini and Cloud Run. Live app: https://annadrishti-801618653701.asia-south1.run.app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CPC 8 Oct 2026 diagnostic discussion and IRI plume of 21 Sep 2026 (artifacts/enso_status.json). Past anomalies from artifacts/reports/02_climate_report.md: our IMD-gridded district means vs 2000-24 mean, and IMD reference vs LPA.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data streams exist, each on a different clock and geography. AnnaDrishti fuses them for 753 districts.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Material Design 3 web app with three role-based entry points: Farmer (phone-first, 9 languages, voice), District officer (department briefing, plain-language Overview / Why / Trends / Actions), State planner (map + pre-positioning). Five questions it answers: where, why, how much buffer, what to plant, for which season (Rabi 2026-27 sowing now, Kharif 2027 upcoming). Screenshots are the live light app (v2).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public. Earth Engine layers refresh live; WeatherNext 2 is the 64-member ensemble initialised 2026-10-17 with leads 6-240 h. New in v3: ICRISAT farm-harvest prices (1990-2020), Poshan Tracker (2023-26), CGWB groundwater (2019 pre-monsoon), Cost of Cultivation (state x crop, 2014+). Spans from README, CONCEPT, gee_live.json, 03b_extra_report.md.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Expected shock is a skill-weighted ensemble of the ENSO analog beta (weight 0.48) and LightGBM (0.52, huber, 18 features, 3 seeds), weights proportional to 1/pooled out-of-sample MAE. Validation: leave-one-year-out, 22 held-out monsoon years 2003-2024, 13,267 district-years. LightGBM rho 0.305, MAE 16.07; analog rho 0.077, MAE 17.71; predict-zero MAE 16.96. Not a forecasting backtest (training includes future years). New score terms: price-spike risk (E, 0.10 effective), groundwater stress (S, 0.10), Poshan live underweight (C, 0.10); component weights 0.45/0.30/0.25 unchanged. Price term covers 457/719 scored districts, groundwater 470, Poshan 716.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different tests, opposite sign conventions. Analog: in-sample Spearman(risk score, actual yield deviation), negative = good, beta fitted on all years incl. the test year (optimistic). LightGBM: leave-one-year-out Spearman(predicted shock, actual deviation), positive = good; not a forecasting backtest because training includes future years. Gap = actual mean deviation of worst-predicted tercile minus best-predicted tercile (pp), negative = good. Analog gaps from kpis.json hindcast top_minus_bottom_pct; LightGBM gaps from gap_lgbm_oos (04b report). Nandurbar: Kharif 2027 El Niño score 72.1 (rank 2); 2015 actual -26.6%, LightGBM out-of-sample -11.9%, analog in-sample hindcast score 77.4. Rabi hindcast (04b_ml_report_rabi.md, kpis hindcast_rabi): winters 2009, 2015, 2021, 2022; analog in-sample rho -0.113, -0.267, -0.168, -0.090 (right sign in all four, weaker than kharif); LightGBM rabi leave-one-year-out pooled rho 0.317 (per-year 0.14-0.39); tercile gaps analog -3.2 to -13.0 pp, LightGBM -4.9 to -18.7 pp. Kharif values from kpis.json hindcast. History mode (artifacts/history/index.json pct_loss_warned): 2009 69%, 2014 45%, 2015 71%, 2023 65%; mean 43% over 2003-2024 (range 20-71%).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kpis.json by_season_scenario. Rabi 2026-27 El Niño: 190 districts need action (of 735 with an estimate), 35.36 cr people, 2.70 cr children under 5, national shock -1.36%. Kharif 2027 El Niño: 242 districts, 54.66 cr people, 4.91 cr children, production-weighted shock -5.88%. Bands: thresholds 45.0 / 55.0 (kharif El Niño tertiles). Top districts computed from districts.json risk scores. Wheat belt: Punjab and Haryana mean rabi El Niño score about 30 with 0 districts needing action; flagged for review, not tuned. Rabi LightGBM shocks are relative to each district's neutral-winter prediction. Screenshot is the live light app (Rabi view).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Grounding: api/llm.py builds the prompt from the district evidence JSON plus rules (cite at most 2-3 numbers, never invent facts, null means information not available, early warning not certain forecast). Personalisation (api/personalize.py): farmer profile (holding, water, main crop, livestock, tenant), 9 languages (EN, Hindi, Marathi, Telugu, Bengali, Tamil, Kannada, Gujarati, Odia), crop playbook; 7 department lenses (collector, food and civil supplies, agriculture, WCD/ICDS, rural development, health, animal husbandry) each with named responsible units and lead times. Ask the map: function calling with get_district, rank_districts, compare_scenarios, national_summary; up to 4 tool rounds. Farmer-profile screenshot is from an intermediate model build (score values differ from v3).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BigQuery warehouse: project dataset in asia-south1, 17 tables (07_bigquery_report.md). TimesFM 3.0 (Preview) with ONI covariate via AI.FORECAST on 749 district monthly rainfall series, 21-month horizon; ONI beyond JAS-2026 is an assumption. JJAS-2027 all-India anomaly -7.7% cropped-area-weighted (-9.1% mean; univariate TimesFM 2.5: -11.7% / -13.3%). Hindcast district-level correlation -0.06 to +0.26, RMSE no better than climatology, median forecasts biased about 5-10 pp low, so display-only. TabFM: 6.6 GB weights, CPU inference over 8 min per fold, 22 folds exceed the budget; slot left null in the ensemble. BigQuery AI.PREDICT path is a plan, not built. Model-agreement screenshot is the light app (Pali, Kharif 2027: two methods agree, 12% lower harvest, range 12-13%).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Totals from kpis.json by_season_scenario actions_total, El Niño. Rabi 2026-27: grain 7.3 lakh t, pulses 5.6 lakh t, anganwadi children 3.3 cr, seed bank 0.63 cr ha, MGNREGA 218.5 cr person-days, PMFBY gap 10.0 cr. Kharif 2027: grain 51.6 lakh t, pulses 19.0 lakh t, anganwadi 3.4 cr, seed bank 1.31 cr ha, MGNREGA 320.4 cr, PMFBY gap 10.1 cr. Lead dates: rabi by 15 Nov 2026, kharif by 15 May 2027. State planner view shows the map and pre-positioning table with CSV export and a Gemini state brief; the screenshot is the live light app (Rabi view). Screenshot shows the Kharif 2027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Run service annadrishti in asia-south1 (min-instances 0). BigQuery dataset in asia-south1: 17 tables, AI.FORECAST with TimesFM. Artifacts can optionally be synced from Cloud Storage at startup (ARTIFACTS_GCS_URI), otherwise baked into the image; the GCS bucket was not created in the sandbox project (billing disabled). GEMINI_API_KEY in Secret Manager (or Vertex AI). Cloud Build builds the image into Artifact Registry. Daily refresh job (Cloud Scheduler) is planned, not yet in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Metrics from kpis.json (Kharif 2027 El Niño). Go-to-market is proposed, not committed. Last-mile via Khushi Baby field network; Android field verification is a next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Limitations are also stated inside the app. Numbers: analog in-sample rho -0.09 to -0.53; LightGBM leave-one-year-out rho 0.24-0.46 on the four hindcast years; LightGBM top features: prev_year_ydev 28%, state 21%; 719 of 753 districts scored; central pool 870 lmt Sep 2026; Poshan median underweight about 10% vs NFHS-6 about 30%, Andhra Pradesh median 4%.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app: https://annadrishti-801618653701.asia-south1.run.app (Cloud Run, asia-south1). GitHub and video links to be filled before submission.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84632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AnnaDrishti  |  Google Cloud AI Builder Cup 2026  |  Sustainability &amp; Social Impact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457200" y="4114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Google Cloud AI Builder Cup 2026  |  Sustainability &amp; Social Impact</a:t>
            </a:r>
            <a:endParaRPr lang="en-US" sz="1100" dirty="0"/>
          </a:p>
        </p:txBody>
      </p:sp>
      <p:sp>
        <p:nvSpPr>
          <p:cNvPr id="3" name="text-2"/>
          <p:cNvSpPr txBox="1"/>
          <p:nvPr/>
        </p:nvSpPr>
        <p:spPr>
          <a:xfrm>
            <a:off x="457200" y="8686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</a:rPr>
              <a:t>AnnaDrishti</a:t>
            </a:r>
            <a:endParaRPr lang="en-US" sz="5000" dirty="0"/>
          </a:p>
        </p:txBody>
      </p:sp>
      <p:sp>
        <p:nvSpPr>
          <p:cNvPr id="4" name="text-3"/>
          <p:cNvSpPr txBox="1"/>
          <p:nvPr/>
        </p:nvSpPr>
        <p:spPr>
          <a:xfrm>
            <a:off x="457200" y="1691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अन्नदृष्टि  (grain + foresight)</a:t>
            </a:r>
            <a:endParaRPr lang="en-US" sz="1600" dirty="0"/>
          </a:p>
        </p:txBody>
      </p:sp>
      <p:sp>
        <p:nvSpPr>
          <p:cNvPr id="5" name="text-4"/>
          <p:cNvSpPr txBox="1"/>
          <p:nvPr/>
        </p:nvSpPr>
        <p:spPr>
          <a:xfrm>
            <a:off x="457200" y="210312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Season-by-season food-security early warning for India's districts, run every year</a:t>
            </a:r>
            <a:endParaRPr lang="en-US" sz="2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32004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This season: El Niño 2026-27</a:t>
            </a:r>
            <a:endParaRPr lang="en-US" sz="1400" dirty="0"/>
          </a:p>
        </p:txBody>
      </p:sp>
      <p:sp>
        <p:nvSpPr>
          <p:cNvPr id="7" name="text-6"/>
          <p:cNvSpPr txBox="1"/>
          <p:nvPr/>
        </p:nvSpPr>
        <p:spPr>
          <a:xfrm>
            <a:off x="457200" y="352958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Where will food security break, why, how much buffer, and what should farmers plant, before each Rabi and Kharif season.</a:t>
            </a:r>
            <a:endParaRPr lang="en-US" sz="1150" dirty="0"/>
          </a:p>
        </p:txBody>
      </p:sp>
      <p:sp>
        <p:nvSpPr>
          <p:cNvPr id="8" name="card-7"/>
          <p:cNvSpPr/>
          <p:nvPr/>
        </p:nvSpPr>
        <p:spPr>
          <a:xfrm>
            <a:off x="457200" y="3931920"/>
            <a:ext cx="4297680" cy="886968"/>
          </a:xfrm>
          <a:prstGeom prst="roundRect">
            <a:avLst>
              <a:gd name="adj" fmla="val 721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-8"/>
          <p:cNvSpPr txBox="1"/>
          <p:nvPr/>
        </p:nvSpPr>
        <p:spPr>
          <a:xfrm>
            <a:off x="594360" y="398678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Team: &lt;names&gt;</a:t>
            </a:r>
            <a:endParaRPr lang="en-US" sz="1300" dirty="0"/>
          </a:p>
        </p:txBody>
      </p:sp>
      <p:sp>
        <p:nvSpPr>
          <p:cNvPr id="10" name="text-9"/>
          <p:cNvSpPr txBox="1"/>
          <p:nvPr/>
        </p:nvSpPr>
        <p:spPr>
          <a:xfrm>
            <a:off x="594360" y="422452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Built on Google Cloud: Earth Engine · WeatherNext · Gemini · Cloud Run</a:t>
            </a:r>
            <a:endParaRPr lang="en-US" sz="1100" dirty="0"/>
          </a:p>
        </p:txBody>
      </p:sp>
      <p:sp>
        <p:nvSpPr>
          <p:cNvPr id="11" name="text-10"/>
          <p:cNvSpPr txBox="1"/>
          <p:nvPr/>
        </p:nvSpPr>
        <p:spPr>
          <a:xfrm>
            <a:off x="594360" y="457200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Live: https://annadrishti-801618653701.asia-south1.run.app</a:t>
            </a:r>
            <a:endParaRPr lang="en-US" sz="950" dirty="0"/>
          </a:p>
        </p:txBody>
      </p:sp>
      <p:pic>
        <p:nvPicPr>
          <p:cNvPr id="12" name="Image 0" descr="AnnaDrishti app screenshot: full0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640080"/>
            <a:ext cx="3657600" cy="2743200"/>
          </a:xfrm>
          <a:prstGeom prst="rect">
            <a:avLst/>
          </a:prstGeom>
        </p:spPr>
      </p:pic>
      <p:sp>
        <p:nvSpPr>
          <p:cNvPr id="13" name="frame-11"/>
          <p:cNvSpPr/>
          <p:nvPr/>
        </p:nvSpPr>
        <p:spPr>
          <a:xfrm>
            <a:off x="5029200" y="640080"/>
            <a:ext cx="3657600" cy="274320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text-12"/>
          <p:cNvSpPr txBox="1"/>
          <p:nvPr/>
        </p:nvSpPr>
        <p:spPr>
          <a:xfrm>
            <a:off x="5029200" y="3429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Live app (State planner): Rabi 2026-27, El Niño outlook</a:t>
            </a:r>
            <a:endParaRPr lang="en-US" sz="1000" dirty="0"/>
          </a:p>
        </p:txBody>
      </p:sp>
      <p:sp>
        <p:nvSpPr>
          <p:cNvPr id="15" name="card-13"/>
          <p:cNvSpPr/>
          <p:nvPr/>
        </p:nvSpPr>
        <p:spPr>
          <a:xfrm>
            <a:off x="5029200" y="3840480"/>
            <a:ext cx="1161288" cy="868680"/>
          </a:xfrm>
          <a:prstGeom prst="roundRect">
            <a:avLst>
              <a:gd name="adj" fmla="val 736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-14"/>
          <p:cNvSpPr txBox="1"/>
          <p:nvPr/>
        </p:nvSpPr>
        <p:spPr>
          <a:xfrm>
            <a:off x="5120640" y="3913632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190</a:t>
            </a:r>
            <a:endParaRPr lang="en-US" sz="2000" dirty="0"/>
          </a:p>
        </p:txBody>
      </p:sp>
      <p:sp>
        <p:nvSpPr>
          <p:cNvPr id="17" name="text-15"/>
          <p:cNvSpPr txBox="1"/>
          <p:nvPr/>
        </p:nvSpPr>
        <p:spPr>
          <a:xfrm>
            <a:off x="5120640" y="43434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districts need action</a:t>
            </a:r>
            <a:endParaRPr lang="en-US" sz="1000" dirty="0"/>
          </a:p>
        </p:txBody>
      </p:sp>
      <p:sp>
        <p:nvSpPr>
          <p:cNvPr id="18" name="card-16"/>
          <p:cNvSpPr/>
          <p:nvPr/>
        </p:nvSpPr>
        <p:spPr>
          <a:xfrm>
            <a:off x="6281928" y="3840480"/>
            <a:ext cx="1161288" cy="868680"/>
          </a:xfrm>
          <a:prstGeom prst="roundRect">
            <a:avLst>
              <a:gd name="adj" fmla="val 736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-17"/>
          <p:cNvSpPr txBox="1"/>
          <p:nvPr/>
        </p:nvSpPr>
        <p:spPr>
          <a:xfrm>
            <a:off x="6373368" y="3913632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35.4 cr</a:t>
            </a:r>
            <a:endParaRPr lang="en-US" sz="2000" dirty="0"/>
          </a:p>
        </p:txBody>
      </p:sp>
      <p:sp>
        <p:nvSpPr>
          <p:cNvPr id="20" name="text-18"/>
          <p:cNvSpPr txBox="1"/>
          <p:nvPr/>
        </p:nvSpPr>
        <p:spPr>
          <a:xfrm>
            <a:off x="6373368" y="43434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people in them</a:t>
            </a:r>
            <a:endParaRPr lang="en-US" sz="1000" dirty="0"/>
          </a:p>
        </p:txBody>
      </p:sp>
      <p:sp>
        <p:nvSpPr>
          <p:cNvPr id="21" name="card-19"/>
          <p:cNvSpPr/>
          <p:nvPr/>
        </p:nvSpPr>
        <p:spPr>
          <a:xfrm>
            <a:off x="7534656" y="3840480"/>
            <a:ext cx="1161288" cy="868680"/>
          </a:xfrm>
          <a:prstGeom prst="roundRect">
            <a:avLst>
              <a:gd name="adj" fmla="val 736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2" name="text-20"/>
          <p:cNvSpPr txBox="1"/>
          <p:nvPr/>
        </p:nvSpPr>
        <p:spPr>
          <a:xfrm>
            <a:off x="7626096" y="3913632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2.7 cr</a:t>
            </a:r>
            <a:endParaRPr lang="en-US" sz="2000" dirty="0"/>
          </a:p>
        </p:txBody>
      </p:sp>
      <p:sp>
        <p:nvSpPr>
          <p:cNvPr id="23" name="text-21"/>
          <p:cNvSpPr txBox="1"/>
          <p:nvPr/>
        </p:nvSpPr>
        <p:spPr>
          <a:xfrm>
            <a:off x="7626096" y="43434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children &lt;5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 record El Niño is forming now, and India has seen this before</a:t>
            </a:r>
            <a:endParaRPr lang="en-US" sz="2400" dirty="0"/>
          </a:p>
        </p:txBody>
      </p:sp>
      <p:sp>
        <p:nvSpPr>
          <p:cNvPr id="4" name="card-22"/>
          <p:cNvSpPr/>
          <p:nvPr/>
        </p:nvSpPr>
        <p:spPr>
          <a:xfrm>
            <a:off x="457200" y="1097280"/>
            <a:ext cx="3931920" cy="868680"/>
          </a:xfrm>
          <a:prstGeom prst="roundRect">
            <a:avLst>
              <a:gd name="adj" fmla="val 736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23"/>
          <p:cNvSpPr txBox="1"/>
          <p:nvPr/>
        </p:nvSpPr>
        <p:spPr>
          <a:xfrm>
            <a:off x="594360" y="120700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+2.1 °C</a:t>
            </a:r>
            <a:endParaRPr lang="en-US" sz="2800" dirty="0"/>
          </a:p>
        </p:txBody>
      </p:sp>
      <p:sp>
        <p:nvSpPr>
          <p:cNvPr id="6" name="text-24"/>
          <p:cNvSpPr txBox="1"/>
          <p:nvPr/>
        </p:nvSpPr>
        <p:spPr>
          <a:xfrm>
            <a:off x="2011680" y="11887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Niño-3.4, NOAA CPC 8 Oct 2026. El Niño Advisory; still strengthening through end of 2026</a:t>
            </a:r>
            <a:endParaRPr lang="en-US" sz="1150" dirty="0"/>
          </a:p>
        </p:txBody>
      </p:sp>
      <p:sp>
        <p:nvSpPr>
          <p:cNvPr id="7" name="card-25"/>
          <p:cNvSpPr/>
          <p:nvPr/>
        </p:nvSpPr>
        <p:spPr>
          <a:xfrm>
            <a:off x="457200" y="2084832"/>
            <a:ext cx="3931920" cy="868680"/>
          </a:xfrm>
          <a:prstGeom prst="roundRect">
            <a:avLst>
              <a:gd name="adj" fmla="val 736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-26"/>
          <p:cNvSpPr txBox="1"/>
          <p:nvPr/>
        </p:nvSpPr>
        <p:spPr>
          <a:xfrm>
            <a:off x="594360" y="21945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83%</a:t>
            </a:r>
            <a:endParaRPr lang="en-US" sz="2800" dirty="0"/>
          </a:p>
        </p:txBody>
      </p:sp>
      <p:sp>
        <p:nvSpPr>
          <p:cNvPr id="9" name="text-27"/>
          <p:cNvSpPr txBox="1"/>
          <p:nvPr/>
        </p:nvSpPr>
        <p:spPr>
          <a:xfrm>
            <a:off x="2011680" y="217627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CPC chance of a historic event by Oct-Dec 2026 (54% for SON)</a:t>
            </a:r>
            <a:endParaRPr lang="en-US" sz="1150" dirty="0"/>
          </a:p>
        </p:txBody>
      </p:sp>
      <p:sp>
        <p:nvSpPr>
          <p:cNvPr id="10" name="card-28"/>
          <p:cNvSpPr/>
          <p:nvPr/>
        </p:nvSpPr>
        <p:spPr>
          <a:xfrm>
            <a:off x="457200" y="3072384"/>
            <a:ext cx="3931920" cy="868680"/>
          </a:xfrm>
          <a:prstGeom prst="roundRect">
            <a:avLst>
              <a:gd name="adj" fmla="val 736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-29"/>
          <p:cNvSpPr txBox="1"/>
          <p:nvPr/>
        </p:nvSpPr>
        <p:spPr>
          <a:xfrm>
            <a:off x="594360" y="3182112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~100%</a:t>
            </a:r>
            <a:endParaRPr lang="en-US" sz="2800" dirty="0"/>
          </a:p>
        </p:txBody>
      </p:sp>
      <p:sp>
        <p:nvSpPr>
          <p:cNvPr id="12" name="text-30"/>
          <p:cNvSpPr txBox="1"/>
          <p:nvPr/>
        </p:nvSpPr>
        <p:spPr>
          <a:xfrm>
            <a:off x="2011680" y="3163824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IRI plume: El Niño probability through FMA 2027 (AMJ 90%), still 61% for MJJ 2027</a:t>
            </a:r>
            <a:endParaRPr lang="en-US" sz="1150" dirty="0"/>
          </a:p>
        </p:txBody>
      </p:sp>
      <p:sp>
        <p:nvSpPr>
          <p:cNvPr id="13" name="text-31"/>
          <p:cNvSpPr txBox="1"/>
          <p:nvPr/>
        </p:nvSpPr>
        <p:spPr>
          <a:xfrm>
            <a:off x="457200" y="404164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The tool runs every Rabi and Kharif; ENSO outlook refreshes monthly.</a:t>
            </a:r>
            <a:endParaRPr lang="en-US" sz="1150" dirty="0"/>
          </a:p>
        </p:txBody>
      </p:sp>
      <p:sp>
        <p:nvSpPr>
          <p:cNvPr id="14" name="text-32"/>
          <p:cNvSpPr txBox="1"/>
          <p:nvPr/>
        </p:nvSpPr>
        <p:spPr>
          <a:xfrm>
            <a:off x="457200" y="44348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India: rabi 2026-27 sows under a warm El Niño winter; kharif 2027 faces deficit risk if El Niño persists into MJJ.</a:t>
            </a:r>
            <a:endParaRPr lang="en-US" sz="1050" dirty="0"/>
          </a:p>
        </p:txBody>
      </p:sp>
      <p:sp>
        <p:nvSpPr>
          <p:cNvPr id="15" name="card-33"/>
          <p:cNvSpPr/>
          <p:nvPr/>
        </p:nvSpPr>
        <p:spPr>
          <a:xfrm>
            <a:off x="4617720" y="1097280"/>
            <a:ext cx="4069080" cy="3657600"/>
          </a:xfrm>
          <a:prstGeom prst="roundRect">
            <a:avLst>
              <a:gd name="adj" fmla="val 175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-34"/>
          <p:cNvSpPr txBox="1"/>
          <p:nvPr/>
        </p:nvSpPr>
        <p:spPr>
          <a:xfrm>
            <a:off x="4754880" y="11887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All-India monsoon (JJAS) rainfall anomaly, past El Niño years</a:t>
            </a:r>
            <a:endParaRPr lang="en-US" sz="12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709160" y="1600200"/>
          <a:ext cx="38862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-35"/>
          <p:cNvSpPr txBox="1"/>
          <p:nvPr/>
        </p:nvSpPr>
        <p:spPr>
          <a:xfrm>
            <a:off x="4754880" y="43708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2009 IMD reference: -22% (-16% on our grid). 2015: -14% (-11%).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Nothing links climate, crops, nutrition and stocks by district</a:t>
            </a:r>
            <a:endParaRPr lang="en-US" sz="2400" dirty="0"/>
          </a:p>
        </p:txBody>
      </p:sp>
      <p:sp>
        <p:nvSpPr>
          <p:cNvPr id="4" name="card-36"/>
          <p:cNvSpPr/>
          <p:nvPr/>
        </p:nvSpPr>
        <p:spPr>
          <a:xfrm>
            <a:off x="457200" y="1143000"/>
            <a:ext cx="1920240" cy="233172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37"/>
          <p:cNvSpPr txBox="1"/>
          <p:nvPr/>
        </p:nvSpPr>
        <p:spPr>
          <a:xfrm>
            <a:off x="594360" y="12801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Rain</a:t>
            </a:r>
            <a:endParaRPr lang="en-US" sz="2600" dirty="0"/>
          </a:p>
        </p:txBody>
      </p:sp>
      <p:sp>
        <p:nvSpPr>
          <p:cNvPr id="6" name="text-38"/>
          <p:cNvSpPr txBox="1"/>
          <p:nvPr/>
        </p:nvSpPr>
        <p:spPr>
          <a:xfrm>
            <a:off x="594360" y="19659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Climate forecasts stop at rainfall</a:t>
            </a:r>
            <a:endParaRPr lang="en-US" sz="1400" dirty="0"/>
          </a:p>
        </p:txBody>
      </p:sp>
      <p:sp>
        <p:nvSpPr>
          <p:cNvPr id="7" name="text-39"/>
          <p:cNvSpPr txBox="1"/>
          <p:nvPr/>
        </p:nvSpPr>
        <p:spPr>
          <a:xfrm>
            <a:off x="594360" y="26517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No translation into yield, hunger or action</a:t>
            </a:r>
            <a:endParaRPr lang="en-US" sz="1150" dirty="0"/>
          </a:p>
        </p:txBody>
      </p:sp>
      <p:sp>
        <p:nvSpPr>
          <p:cNvPr id="8" name="card-40"/>
          <p:cNvSpPr/>
          <p:nvPr/>
        </p:nvSpPr>
        <p:spPr>
          <a:xfrm>
            <a:off x="2542032" y="1143000"/>
            <a:ext cx="1920240" cy="233172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-41"/>
          <p:cNvSpPr txBox="1"/>
          <p:nvPr/>
        </p:nvSpPr>
        <p:spPr>
          <a:xfrm>
            <a:off x="2679192" y="12801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12-18 mo</a:t>
            </a:r>
            <a:endParaRPr lang="en-US" sz="2600" dirty="0"/>
          </a:p>
        </p:txBody>
      </p:sp>
      <p:sp>
        <p:nvSpPr>
          <p:cNvPr id="10" name="text-42"/>
          <p:cNvSpPr txBox="1"/>
          <p:nvPr/>
        </p:nvSpPr>
        <p:spPr>
          <a:xfrm>
            <a:off x="2679192" y="19659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Crop statistics arrive late</a:t>
            </a:r>
            <a:endParaRPr lang="en-US" sz="1400" dirty="0"/>
          </a:p>
        </p:txBody>
      </p:sp>
      <p:sp>
        <p:nvSpPr>
          <p:cNvPr id="11" name="text-43"/>
          <p:cNvSpPr txBox="1"/>
          <p:nvPr/>
        </p:nvSpPr>
        <p:spPr>
          <a:xfrm>
            <a:off x="2679192" y="26517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Yield data lags the season it describes</a:t>
            </a:r>
            <a:endParaRPr lang="en-US" sz="1150" dirty="0"/>
          </a:p>
        </p:txBody>
      </p:sp>
      <p:sp>
        <p:nvSpPr>
          <p:cNvPr id="12" name="card-44"/>
          <p:cNvSpPr/>
          <p:nvPr/>
        </p:nvSpPr>
        <p:spPr>
          <a:xfrm>
            <a:off x="4626864" y="1143000"/>
            <a:ext cx="1920240" cy="233172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-45"/>
          <p:cNvSpPr txBox="1"/>
          <p:nvPr/>
        </p:nvSpPr>
        <p:spPr>
          <a:xfrm>
            <a:off x="4764024" y="12801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~4 yr</a:t>
            </a:r>
            <a:endParaRPr lang="en-US" sz="2600" dirty="0"/>
          </a:p>
        </p:txBody>
      </p:sp>
      <p:sp>
        <p:nvSpPr>
          <p:cNvPr id="14" name="text-46"/>
          <p:cNvSpPr txBox="1"/>
          <p:nvPr/>
        </p:nvSpPr>
        <p:spPr>
          <a:xfrm>
            <a:off x="4764024" y="19659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NFHS nutrition survey cadence</a:t>
            </a:r>
            <a:endParaRPr lang="en-US" sz="1400" dirty="0"/>
          </a:p>
        </p:txBody>
      </p:sp>
      <p:sp>
        <p:nvSpPr>
          <p:cNvPr id="15" name="text-47"/>
          <p:cNvSpPr txBox="1"/>
          <p:nvPr/>
        </p:nvSpPr>
        <p:spPr>
          <a:xfrm>
            <a:off x="4764024" y="26517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Vulnerability is measured long after the shock</a:t>
            </a:r>
            <a:endParaRPr lang="en-US" sz="1150" dirty="0"/>
          </a:p>
        </p:txBody>
      </p:sp>
      <p:sp>
        <p:nvSpPr>
          <p:cNvPr id="16" name="card-48"/>
          <p:cNvSpPr/>
          <p:nvPr/>
        </p:nvSpPr>
        <p:spPr>
          <a:xfrm>
            <a:off x="6711696" y="1143000"/>
            <a:ext cx="1920240" cy="233172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-49"/>
          <p:cNvSpPr txBox="1"/>
          <p:nvPr/>
        </p:nvSpPr>
        <p:spPr>
          <a:xfrm>
            <a:off x="6848856" y="12801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 number</a:t>
            </a:r>
            <a:endParaRPr lang="en-US" sz="2600" dirty="0"/>
          </a:p>
        </p:txBody>
      </p:sp>
      <p:sp>
        <p:nvSpPr>
          <p:cNvPr id="18" name="text-50"/>
          <p:cNvSpPr txBox="1"/>
          <p:nvPr/>
        </p:nvSpPr>
        <p:spPr>
          <a:xfrm>
            <a:off x="6848856" y="19659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Buffer stock is national</a:t>
            </a:r>
            <a:endParaRPr lang="en-US" sz="1400" dirty="0"/>
          </a:p>
        </p:txBody>
      </p:sp>
      <p:sp>
        <p:nvSpPr>
          <p:cNvPr id="19" name="text-51"/>
          <p:cNvSpPr txBox="1"/>
          <p:nvPr/>
        </p:nvSpPr>
        <p:spPr>
          <a:xfrm>
            <a:off x="6848856" y="26517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Central pool 870 lmt (Sep 2026), no district view</a:t>
            </a:r>
            <a:endParaRPr lang="en-US" sz="1150" dirty="0"/>
          </a:p>
        </p:txBody>
      </p:sp>
      <p:sp>
        <p:nvSpPr>
          <p:cNvPr id="20" name="card-52"/>
          <p:cNvSpPr/>
          <p:nvPr/>
        </p:nvSpPr>
        <p:spPr>
          <a:xfrm>
            <a:off x="457200" y="3749040"/>
            <a:ext cx="8229600" cy="914400"/>
          </a:xfrm>
          <a:prstGeom prst="roundRect">
            <a:avLst>
              <a:gd name="adj" fmla="val 7000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1" name="text-53"/>
          <p:cNvSpPr txBox="1"/>
          <p:nvPr/>
        </p:nvSpPr>
        <p:spPr>
          <a:xfrm>
            <a:off x="640080" y="38404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AnnaDrishti joins all four, per district, ahead of sowing</a:t>
            </a:r>
            <a:endParaRPr lang="en-US" sz="1800" dirty="0"/>
          </a:p>
        </p:txBody>
      </p:sp>
      <p:sp>
        <p:nvSpPr>
          <p:cNvPr id="22" name="text-54"/>
          <p:cNvSpPr txBox="1"/>
          <p:nvPr/>
        </p:nvSpPr>
        <p:spPr>
          <a:xfrm>
            <a:off x="640080" y="42245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Rainfall analogs → yield sensitivity → nutrition vulnerability → buffer and pre-positioning quantities, with a Gemini analyst on top. Rabi 2026-27 lead date: 15 Nov 2026.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One app, three roles, five questions</a:t>
            </a:r>
            <a:endParaRPr lang="en-US" sz="2400" dirty="0"/>
          </a:p>
        </p:txBody>
      </p:sp>
      <p:pic>
        <p:nvPicPr>
          <p:cNvPr id="4" name="Image 0" descr="AnnaDrishti app screenshot: ro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2423160" cy="1817370"/>
          </a:xfrm>
          <a:prstGeom prst="rect">
            <a:avLst/>
          </a:prstGeom>
        </p:spPr>
      </p:pic>
      <p:sp>
        <p:nvSpPr>
          <p:cNvPr id="5" name="frame-55"/>
          <p:cNvSpPr/>
          <p:nvPr/>
        </p:nvSpPr>
        <p:spPr>
          <a:xfrm>
            <a:off x="457200" y="1051560"/>
            <a:ext cx="2423160" cy="181737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6" name="text-56"/>
          <p:cNvSpPr txBox="1"/>
          <p:nvPr/>
        </p:nvSpPr>
        <p:spPr>
          <a:xfrm>
            <a:off x="457200" y="29718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Pick a role: Farmer, District officer, State planner</a:t>
            </a:r>
            <a:endParaRPr lang="en-US" sz="950" dirty="0"/>
          </a:p>
        </p:txBody>
      </p:sp>
      <p:pic>
        <p:nvPicPr>
          <p:cNvPr id="7" name="Image 1" descr="AnnaDrishti app screenshot: far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1051560"/>
            <a:ext cx="877824" cy="1708831"/>
          </a:xfrm>
          <a:prstGeom prst="rect">
            <a:avLst/>
          </a:prstGeom>
        </p:spPr>
      </p:pic>
      <p:sp>
        <p:nvSpPr>
          <p:cNvPr id="8" name="frame-57"/>
          <p:cNvSpPr/>
          <p:nvPr/>
        </p:nvSpPr>
        <p:spPr>
          <a:xfrm>
            <a:off x="3017520" y="1051560"/>
            <a:ext cx="877824" cy="1708831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-58"/>
          <p:cNvSpPr txBox="1"/>
          <p:nvPr/>
        </p:nvSpPr>
        <p:spPr>
          <a:xfrm>
            <a:off x="3017520" y="29718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Farmer: phone-first, 9 languages, voice</a:t>
            </a:r>
            <a:endParaRPr lang="en-US" sz="950" dirty="0"/>
          </a:p>
        </p:txBody>
      </p:sp>
      <p:pic>
        <p:nvPicPr>
          <p:cNvPr id="10" name="Image 2" descr="AnnaDrishti app screenshot: ov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051560"/>
            <a:ext cx="2423160" cy="1817370"/>
          </a:xfrm>
          <a:prstGeom prst="rect">
            <a:avLst/>
          </a:prstGeom>
        </p:spPr>
      </p:pic>
      <p:sp>
        <p:nvSpPr>
          <p:cNvPr id="11" name="frame-59"/>
          <p:cNvSpPr/>
          <p:nvPr/>
        </p:nvSpPr>
        <p:spPr>
          <a:xfrm>
            <a:off x="4389120" y="1051560"/>
            <a:ext cx="2423160" cy="181737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text-60"/>
          <p:cNvSpPr txBox="1"/>
          <p:nvPr/>
        </p:nvSpPr>
        <p:spPr>
          <a:xfrm>
            <a:off x="4389120" y="29718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Officer: plain-language Overview · Why · Trends · Actions</a:t>
            </a:r>
            <a:endParaRPr lang="en-US" sz="950" dirty="0"/>
          </a:p>
        </p:txBody>
      </p:sp>
      <p:pic>
        <p:nvPicPr>
          <p:cNvPr id="13" name="Image 3" descr="AnnaDrishti app screenshot: trend_pane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051560"/>
            <a:ext cx="1737360" cy="1899446"/>
          </a:xfrm>
          <a:prstGeom prst="rect">
            <a:avLst/>
          </a:prstGeom>
        </p:spPr>
      </p:pic>
      <p:sp>
        <p:nvSpPr>
          <p:cNvPr id="14" name="frame-61"/>
          <p:cNvSpPr/>
          <p:nvPr/>
        </p:nvSpPr>
        <p:spPr>
          <a:xfrm>
            <a:off x="6949440" y="1051560"/>
            <a:ext cx="1737360" cy="1899446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-62"/>
          <p:cNvSpPr txBox="1"/>
          <p:nvPr/>
        </p:nvSpPr>
        <p:spPr>
          <a:xfrm>
            <a:off x="6949440" y="2971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Trends: yield, monsoon, NFHS, prices</a:t>
            </a:r>
            <a:endParaRPr lang="en-US" sz="950" dirty="0"/>
          </a:p>
        </p:txBody>
      </p:sp>
      <p:sp>
        <p:nvSpPr>
          <p:cNvPr id="16" name="card-63"/>
          <p:cNvSpPr/>
          <p:nvPr/>
        </p:nvSpPr>
        <p:spPr>
          <a:xfrm>
            <a:off x="457200" y="3520440"/>
            <a:ext cx="1572768" cy="118872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-64"/>
          <p:cNvSpPr txBox="1"/>
          <p:nvPr/>
        </p:nvSpPr>
        <p:spPr>
          <a:xfrm>
            <a:off x="548640" y="358444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Where?</a:t>
            </a:r>
            <a:endParaRPr lang="en-US" sz="1200" dirty="0"/>
          </a:p>
        </p:txBody>
      </p:sp>
      <p:sp>
        <p:nvSpPr>
          <p:cNvPr id="18" name="text-65"/>
          <p:cNvSpPr txBox="1"/>
          <p:nvPr/>
        </p:nvSpPr>
        <p:spPr>
          <a:xfrm>
            <a:off x="548640" y="388620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risk map of 753 districts, traffic light</a:t>
            </a:r>
            <a:endParaRPr lang="en-US" sz="1050" dirty="0"/>
          </a:p>
        </p:txBody>
      </p:sp>
      <p:sp>
        <p:nvSpPr>
          <p:cNvPr id="19" name="card-66"/>
          <p:cNvSpPr/>
          <p:nvPr/>
        </p:nvSpPr>
        <p:spPr>
          <a:xfrm>
            <a:off x="2121408" y="3520440"/>
            <a:ext cx="1572768" cy="118872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-67"/>
          <p:cNvSpPr txBox="1"/>
          <p:nvPr/>
        </p:nvSpPr>
        <p:spPr>
          <a:xfrm>
            <a:off x="2212848" y="358444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Why?</a:t>
            </a:r>
            <a:endParaRPr lang="en-US" sz="1200" dirty="0"/>
          </a:p>
        </p:txBody>
      </p:sp>
      <p:sp>
        <p:nvSpPr>
          <p:cNvPr id="21" name="text-68"/>
          <p:cNvSpPr txBox="1"/>
          <p:nvPr/>
        </p:nvSpPr>
        <p:spPr>
          <a:xfrm>
            <a:off x="2212848" y="388620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top drivers in plain sentences</a:t>
            </a:r>
            <a:endParaRPr lang="en-US" sz="1050" dirty="0"/>
          </a:p>
        </p:txBody>
      </p:sp>
      <p:sp>
        <p:nvSpPr>
          <p:cNvPr id="22" name="card-69"/>
          <p:cNvSpPr/>
          <p:nvPr/>
        </p:nvSpPr>
        <p:spPr>
          <a:xfrm>
            <a:off x="3785616" y="3520440"/>
            <a:ext cx="1572768" cy="118872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3" name="text-70"/>
          <p:cNvSpPr txBox="1"/>
          <p:nvPr/>
        </p:nvSpPr>
        <p:spPr>
          <a:xfrm>
            <a:off x="3877056" y="358444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How much buffer?</a:t>
            </a:r>
            <a:endParaRPr lang="en-US" sz="1200" dirty="0"/>
          </a:p>
        </p:txBody>
      </p:sp>
      <p:sp>
        <p:nvSpPr>
          <p:cNvPr id="24" name="text-71"/>
          <p:cNvSpPr txBox="1"/>
          <p:nvPr/>
        </p:nvSpPr>
        <p:spPr>
          <a:xfrm>
            <a:off x="3877056" y="388620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grain, pulses, stock vs norm</a:t>
            </a:r>
            <a:endParaRPr lang="en-US" sz="1050" dirty="0"/>
          </a:p>
        </p:txBody>
      </p:sp>
      <p:sp>
        <p:nvSpPr>
          <p:cNvPr id="25" name="card-72"/>
          <p:cNvSpPr/>
          <p:nvPr/>
        </p:nvSpPr>
        <p:spPr>
          <a:xfrm>
            <a:off x="5449824" y="3520440"/>
            <a:ext cx="1572768" cy="118872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6" name="text-73"/>
          <p:cNvSpPr txBox="1"/>
          <p:nvPr/>
        </p:nvSpPr>
        <p:spPr>
          <a:xfrm>
            <a:off x="5541264" y="358444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What to plant?</a:t>
            </a:r>
            <a:endParaRPr lang="en-US" sz="1200" dirty="0"/>
          </a:p>
        </p:txBody>
      </p:sp>
      <p:sp>
        <p:nvSpPr>
          <p:cNvPr id="27" name="text-74"/>
          <p:cNvSpPr txBox="1"/>
          <p:nvPr/>
        </p:nvSpPr>
        <p:spPr>
          <a:xfrm>
            <a:off x="5541264" y="388620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crop advice in 9 languages, spoken</a:t>
            </a:r>
            <a:endParaRPr lang="en-US" sz="1050" dirty="0"/>
          </a:p>
        </p:txBody>
      </p:sp>
      <p:sp>
        <p:nvSpPr>
          <p:cNvPr id="28" name="card-75"/>
          <p:cNvSpPr/>
          <p:nvPr/>
        </p:nvSpPr>
        <p:spPr>
          <a:xfrm>
            <a:off x="7114032" y="3520440"/>
            <a:ext cx="1572768" cy="118872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9" name="text-76"/>
          <p:cNvSpPr txBox="1"/>
          <p:nvPr/>
        </p:nvSpPr>
        <p:spPr>
          <a:xfrm>
            <a:off x="7205472" y="358444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For which season?</a:t>
            </a:r>
            <a:endParaRPr lang="en-US" sz="1200" dirty="0"/>
          </a:p>
        </p:txBody>
      </p:sp>
      <p:sp>
        <p:nvSpPr>
          <p:cNvPr id="30" name="text-77"/>
          <p:cNvSpPr txBox="1"/>
          <p:nvPr/>
        </p:nvSpPr>
        <p:spPr>
          <a:xfrm>
            <a:off x="7205472" y="388620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Rabi 2026-27 now, Kharif 2027 next; 5 ENSO scenarios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Data fusion: 14 public sources, from Earth Engine to Poshan</a:t>
            </a:r>
            <a:endParaRPr lang="en-US" sz="2400" dirty="0"/>
          </a:p>
        </p:txBody>
      </p:sp>
      <p:graphicFrame>
        <p:nvGraphicFramePr>
          <p:cNvPr id="6" name="source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94360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1783080"/>
                <a:gridCol w="1554480"/>
              </a:tblGrid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Source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Span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Granularity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IMD gridded rainfall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2000-2025, daily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0.25° grid → district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DES / UPAG crop statistics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1997-2025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district × ~60 crops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NFHS-4 / 5 / 6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3 survey rounds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district fact sheets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Census 2011 + NCP projections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projected to 2026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district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PDS offtake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2017+, monthly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district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FCI / DFPD central pool stocks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monthly, to Sep 2026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national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ICRISAT districts + farm-harvest prices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1966-2017; prices 1990-2020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district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NOAA CPC ONI + IRI plume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ONI 2000-25; CPC 8 Oct 2026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Niño-3.4, probabilities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DST climate-vulnerability index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static index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district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Poshan Tracker (live underweight)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Apr 2023 - Feb 2026, monthly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district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CGWB groundwater levels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pre-monsoon, 2019 mostly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district (505 of 753)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Cost of Cultivation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latest year, 2014+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state × crop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Earth Engine: CHIRPS, NDVI, ERA5-Land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live to Sep 2026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250 m-11 km → district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WeatherNext 2 (Earth Engine asset)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init 2026-10-17; 6-240 h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64 members → district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pic>
        <p:nvPicPr>
          <p:cNvPr id="5" name="Image 0" descr="AnnaDrishti app screenshot: trend_sma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051560"/>
            <a:ext cx="2011680" cy="1524889"/>
          </a:xfrm>
          <a:prstGeom prst="rect">
            <a:avLst/>
          </a:prstGeom>
        </p:spPr>
      </p:pic>
      <p:sp>
        <p:nvSpPr>
          <p:cNvPr id="6" name="frame-78"/>
          <p:cNvSpPr/>
          <p:nvPr/>
        </p:nvSpPr>
        <p:spPr>
          <a:xfrm>
            <a:off x="6675120" y="1051560"/>
            <a:ext cx="2011680" cy="1524889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" name="text-79"/>
          <p:cNvSpPr txBox="1"/>
          <p:nvPr/>
        </p:nvSpPr>
        <p:spPr>
          <a:xfrm>
            <a:off x="6675120" y="2622169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Per-district trends: yield, monsoon, NFHS, prices</a:t>
            </a:r>
            <a:endParaRPr lang="en-US" sz="1000" dirty="0"/>
          </a:p>
        </p:txBody>
      </p:sp>
      <p:pic>
        <p:nvPicPr>
          <p:cNvPr id="8" name="Image 1" descr="AnnaDrishti app screenshot: ovw_pan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987929"/>
            <a:ext cx="2011680" cy="1583538"/>
          </a:xfrm>
          <a:prstGeom prst="rect">
            <a:avLst/>
          </a:prstGeom>
        </p:spPr>
      </p:pic>
      <p:sp>
        <p:nvSpPr>
          <p:cNvPr id="9" name="frame-80"/>
          <p:cNvSpPr/>
          <p:nvPr/>
        </p:nvSpPr>
        <p:spPr>
          <a:xfrm>
            <a:off x="6675120" y="2987929"/>
            <a:ext cx="2011680" cy="1583538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text-81"/>
          <p:cNvSpPr txBox="1"/>
          <p:nvPr/>
        </p:nvSpPr>
        <p:spPr>
          <a:xfrm>
            <a:off x="6675120" y="4617187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Overview: people, children, harvest, stock; gaps flagged estimated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Method: analog + LightGBM ensemble, season by season</a:t>
            </a:r>
            <a:endParaRPr lang="en-US" sz="2400" dirty="0"/>
          </a:p>
        </p:txBody>
      </p:sp>
      <p:sp>
        <p:nvSpPr>
          <p:cNvPr id="4" name="card-82"/>
          <p:cNvSpPr/>
          <p:nvPr/>
        </p:nvSpPr>
        <p:spPr>
          <a:xfrm>
            <a:off x="457200" y="1051560"/>
            <a:ext cx="1261872" cy="1051560"/>
          </a:xfrm>
          <a:prstGeom prst="roundRect">
            <a:avLst>
              <a:gd name="adj" fmla="val 608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83"/>
          <p:cNvSpPr txBox="1"/>
          <p:nvPr/>
        </p:nvSpPr>
        <p:spPr>
          <a:xfrm>
            <a:off x="530352" y="1115568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ENSO phase</a:t>
            </a:r>
            <a:endParaRPr lang="en-US" sz="1200" dirty="0"/>
          </a:p>
        </p:txBody>
      </p:sp>
      <p:sp>
        <p:nvSpPr>
          <p:cNvPr id="6" name="text-84"/>
          <p:cNvSpPr txBox="1"/>
          <p:nvPr/>
        </p:nvSpPr>
        <p:spPr>
          <a:xfrm>
            <a:off x="530352" y="1371600"/>
            <a:ext cx="1115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CPC + IRI; p(El Niño) 0.61 for kharif 2027</a:t>
            </a:r>
            <a:endParaRPr lang="en-US" sz="1000" dirty="0"/>
          </a:p>
        </p:txBody>
      </p:sp>
      <p:sp>
        <p:nvSpPr>
          <p:cNvPr id="7" name="arrow-85"/>
          <p:cNvSpPr/>
          <p:nvPr/>
        </p:nvSpPr>
        <p:spPr>
          <a:xfrm>
            <a:off x="1728216" y="1572768"/>
            <a:ext cx="11338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8" name="card-86"/>
          <p:cNvSpPr/>
          <p:nvPr/>
        </p:nvSpPr>
        <p:spPr>
          <a:xfrm>
            <a:off x="1850746" y="1051560"/>
            <a:ext cx="1261872" cy="1051560"/>
          </a:xfrm>
          <a:prstGeom prst="roundRect">
            <a:avLst>
              <a:gd name="adj" fmla="val 608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-87"/>
          <p:cNvSpPr txBox="1"/>
          <p:nvPr/>
        </p:nvSpPr>
        <p:spPr>
          <a:xfrm>
            <a:off x="1923898" y="1115568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Analog β</a:t>
            </a:r>
            <a:endParaRPr lang="en-US" sz="1200" dirty="0"/>
          </a:p>
        </p:txBody>
      </p:sp>
      <p:sp>
        <p:nvSpPr>
          <p:cNvPr id="10" name="text-88"/>
          <p:cNvSpPr txBox="1"/>
          <p:nvPr/>
        </p:nvSpPr>
        <p:spPr>
          <a:xfrm>
            <a:off x="1923898" y="1371600"/>
            <a:ext cx="1115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District rain departure × El Niño yield β (7 El Niño years)</a:t>
            </a:r>
            <a:endParaRPr lang="en-US" sz="1000" dirty="0"/>
          </a:p>
        </p:txBody>
      </p:sp>
      <p:sp>
        <p:nvSpPr>
          <p:cNvPr id="11" name="arrow-89"/>
          <p:cNvSpPr/>
          <p:nvPr/>
        </p:nvSpPr>
        <p:spPr>
          <a:xfrm>
            <a:off x="3121762" y="1572768"/>
            <a:ext cx="11338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2" name="card-90"/>
          <p:cNvSpPr/>
          <p:nvPr/>
        </p:nvSpPr>
        <p:spPr>
          <a:xfrm>
            <a:off x="3244291" y="1051560"/>
            <a:ext cx="1261872" cy="1051560"/>
          </a:xfrm>
          <a:prstGeom prst="roundRect">
            <a:avLst>
              <a:gd name="adj" fmla="val 608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-91"/>
          <p:cNvSpPr txBox="1"/>
          <p:nvPr/>
        </p:nvSpPr>
        <p:spPr>
          <a:xfrm>
            <a:off x="3317443" y="1115568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LightGBM</a:t>
            </a:r>
            <a:endParaRPr lang="en-US" sz="1200" dirty="0"/>
          </a:p>
        </p:txBody>
      </p:sp>
      <p:sp>
        <p:nvSpPr>
          <p:cNvPr id="14" name="text-92"/>
          <p:cNvSpPr txBox="1"/>
          <p:nvPr/>
        </p:nvSpPr>
        <p:spPr>
          <a:xfrm>
            <a:off x="3317443" y="1371600"/>
            <a:ext cx="1115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18 features, ~13k district-years, leave-one-year-out</a:t>
            </a:r>
            <a:endParaRPr lang="en-US" sz="1000" dirty="0"/>
          </a:p>
        </p:txBody>
      </p:sp>
      <p:sp>
        <p:nvSpPr>
          <p:cNvPr id="15" name="arrow-93"/>
          <p:cNvSpPr/>
          <p:nvPr/>
        </p:nvSpPr>
        <p:spPr>
          <a:xfrm>
            <a:off x="4515307" y="1572768"/>
            <a:ext cx="11338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6" name="card-94"/>
          <p:cNvSpPr/>
          <p:nvPr/>
        </p:nvSpPr>
        <p:spPr>
          <a:xfrm>
            <a:off x="4637837" y="1051560"/>
            <a:ext cx="1261872" cy="1051560"/>
          </a:xfrm>
          <a:prstGeom prst="roundRect">
            <a:avLst>
              <a:gd name="adj" fmla="val 6087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7" name="text-95"/>
          <p:cNvSpPr txBox="1"/>
          <p:nvPr/>
        </p:nvSpPr>
        <p:spPr>
          <a:xfrm>
            <a:off x="4710989" y="1115568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Ensemble shock</a:t>
            </a:r>
            <a:endParaRPr lang="en-US" sz="1200" dirty="0"/>
          </a:p>
        </p:txBody>
      </p:sp>
      <p:sp>
        <p:nvSpPr>
          <p:cNvPr id="18" name="text-96"/>
          <p:cNvSpPr txBox="1"/>
          <p:nvPr/>
        </p:nvSpPr>
        <p:spPr>
          <a:xfrm>
            <a:off x="4710989" y="1371600"/>
            <a:ext cx="1115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0.48 analog + 0.52 LightGBM; spread = confidence</a:t>
            </a:r>
            <a:endParaRPr lang="en-US" sz="1000" dirty="0"/>
          </a:p>
        </p:txBody>
      </p:sp>
      <p:sp>
        <p:nvSpPr>
          <p:cNvPr id="19" name="arrow-97"/>
          <p:cNvSpPr/>
          <p:nvPr/>
        </p:nvSpPr>
        <p:spPr>
          <a:xfrm>
            <a:off x="5908853" y="1572768"/>
            <a:ext cx="11338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card-98"/>
          <p:cNvSpPr/>
          <p:nvPr/>
        </p:nvSpPr>
        <p:spPr>
          <a:xfrm>
            <a:off x="6031382" y="1051560"/>
            <a:ext cx="1261872" cy="1051560"/>
          </a:xfrm>
          <a:prstGeom prst="roundRect">
            <a:avLst>
              <a:gd name="adj" fmla="val 608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1" name="text-99"/>
          <p:cNvSpPr txBox="1"/>
          <p:nvPr/>
        </p:nvSpPr>
        <p:spPr>
          <a:xfrm>
            <a:off x="6104534" y="1115568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E × S × C</a:t>
            </a:r>
            <a:endParaRPr lang="en-US" sz="1200" dirty="0"/>
          </a:p>
        </p:txBody>
      </p:sp>
      <p:sp>
        <p:nvSpPr>
          <p:cNvPr id="22" name="text-100"/>
          <p:cNvSpPr txBox="1"/>
          <p:nvPr/>
        </p:nvSpPr>
        <p:spPr>
          <a:xfrm>
            <a:off x="6104534" y="1371600"/>
            <a:ext cx="1115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Exposure, sensitivity, capacity deficit; rank-normalised</a:t>
            </a:r>
            <a:endParaRPr lang="en-US" sz="1000" dirty="0"/>
          </a:p>
        </p:txBody>
      </p:sp>
      <p:sp>
        <p:nvSpPr>
          <p:cNvPr id="23" name="arrow-101"/>
          <p:cNvSpPr/>
          <p:nvPr/>
        </p:nvSpPr>
        <p:spPr>
          <a:xfrm>
            <a:off x="7302398" y="1572768"/>
            <a:ext cx="11338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4" name="card-102"/>
          <p:cNvSpPr/>
          <p:nvPr/>
        </p:nvSpPr>
        <p:spPr>
          <a:xfrm>
            <a:off x="7424928" y="1051560"/>
            <a:ext cx="1261872" cy="1051560"/>
          </a:xfrm>
          <a:prstGeom prst="roundRect">
            <a:avLst>
              <a:gd name="adj" fmla="val 6087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5" name="text-103"/>
          <p:cNvSpPr txBox="1"/>
          <p:nvPr/>
        </p:nvSpPr>
        <p:spPr>
          <a:xfrm>
            <a:off x="7498080" y="1115568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Score + drivers</a:t>
            </a:r>
            <a:endParaRPr lang="en-US" sz="1200" dirty="0"/>
          </a:p>
        </p:txBody>
      </p:sp>
      <p:sp>
        <p:nvSpPr>
          <p:cNvPr id="26" name="text-104"/>
          <p:cNvSpPr txBox="1"/>
          <p:nvPr/>
        </p:nvSpPr>
        <p:spPr>
          <a:xfrm>
            <a:off x="7498080" y="1371600"/>
            <a:ext cx="1115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0-100, bands from El Niño tertiles</a:t>
            </a:r>
            <a:endParaRPr lang="en-US" sz="1000" dirty="0"/>
          </a:p>
        </p:txBody>
      </p:sp>
      <p:sp>
        <p:nvSpPr>
          <p:cNvPr id="27" name="card-105"/>
          <p:cNvSpPr/>
          <p:nvPr/>
        </p:nvSpPr>
        <p:spPr>
          <a:xfrm>
            <a:off x="457200" y="2212848"/>
            <a:ext cx="3200400" cy="1371600"/>
          </a:xfrm>
          <a:prstGeom prst="roundRect">
            <a:avLst>
              <a:gd name="adj" fmla="val 4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8" name="text-106"/>
          <p:cNvSpPr txBox="1"/>
          <p:nvPr/>
        </p:nvSpPr>
        <p:spPr>
          <a:xfrm>
            <a:off x="566928" y="225856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Out-of-sample skill (leave-one-year-out)</a:t>
            </a:r>
            <a:endParaRPr lang="en-US" sz="1050" dirty="0"/>
          </a:p>
        </p:txBody>
      </p:sp>
      <p:graphicFrame>
        <p:nvGraphicFramePr>
          <p:cNvPr id="7" name="skill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523744"/>
          <a:ext cx="2980944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731520"/>
                <a:gridCol w="969264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Model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ρ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MAE pp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LightGBM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0.31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16.1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Analog β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0.08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17.7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Predict 0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17.0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30" name="card-107"/>
          <p:cNvSpPr/>
          <p:nvPr/>
        </p:nvSpPr>
        <p:spPr>
          <a:xfrm>
            <a:off x="3794760" y="2212848"/>
            <a:ext cx="1554480" cy="1371600"/>
          </a:xfrm>
          <a:prstGeom prst="roundRect">
            <a:avLst>
              <a:gd name="adj" fmla="val 4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1" name="text-108"/>
          <p:cNvSpPr txBox="1"/>
          <p:nvPr/>
        </p:nvSpPr>
        <p:spPr>
          <a:xfrm>
            <a:off x="3886200" y="224942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0.45</a:t>
            </a:r>
            <a:endParaRPr lang="en-US" sz="2000" dirty="0"/>
          </a:p>
        </p:txBody>
      </p:sp>
      <p:sp>
        <p:nvSpPr>
          <p:cNvPr id="32" name="text-109"/>
          <p:cNvSpPr txBox="1"/>
          <p:nvPr/>
        </p:nvSpPr>
        <p:spPr>
          <a:xfrm>
            <a:off x="4507992" y="228600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Exposure</a:t>
            </a:r>
            <a:endParaRPr lang="en-US" sz="1000" dirty="0"/>
          </a:p>
        </p:txBody>
      </p:sp>
      <p:sp>
        <p:nvSpPr>
          <p:cNvPr id="33" name="text-110"/>
          <p:cNvSpPr txBox="1"/>
          <p:nvPr/>
        </p:nvSpPr>
        <p:spPr>
          <a:xfrm>
            <a:off x="3886200" y="2651760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Ensemble yield loss, rain-deficit probability, dry antecedent, live NDVI</a:t>
            </a:r>
            <a:endParaRPr lang="en-US" sz="950" dirty="0"/>
          </a:p>
        </p:txBody>
      </p:sp>
      <p:sp>
        <p:nvSpPr>
          <p:cNvPr id="34" name="text-111"/>
          <p:cNvSpPr txBox="1"/>
          <p:nvPr/>
        </p:nvSpPr>
        <p:spPr>
          <a:xfrm>
            <a:off x="3886200" y="3310128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+ price-spike risk</a:t>
            </a:r>
            <a:endParaRPr lang="en-US" sz="950" dirty="0"/>
          </a:p>
        </p:txBody>
      </p:sp>
      <p:sp>
        <p:nvSpPr>
          <p:cNvPr id="35" name="card-112"/>
          <p:cNvSpPr/>
          <p:nvPr/>
        </p:nvSpPr>
        <p:spPr>
          <a:xfrm>
            <a:off x="5440680" y="2212848"/>
            <a:ext cx="1554480" cy="1371600"/>
          </a:xfrm>
          <a:prstGeom prst="roundRect">
            <a:avLst>
              <a:gd name="adj" fmla="val 4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6" name="text-113"/>
          <p:cNvSpPr txBox="1"/>
          <p:nvPr/>
        </p:nvSpPr>
        <p:spPr>
          <a:xfrm>
            <a:off x="5532120" y="224942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0.30</a:t>
            </a:r>
            <a:endParaRPr lang="en-US" sz="2000" dirty="0"/>
          </a:p>
        </p:txBody>
      </p:sp>
      <p:sp>
        <p:nvSpPr>
          <p:cNvPr id="37" name="text-114"/>
          <p:cNvSpPr txBox="1"/>
          <p:nvPr/>
        </p:nvSpPr>
        <p:spPr>
          <a:xfrm>
            <a:off x="6153912" y="228600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Sensitivity</a:t>
            </a:r>
            <a:endParaRPr lang="en-US" sz="1000" dirty="0"/>
          </a:p>
        </p:txBody>
      </p:sp>
      <p:sp>
        <p:nvSpPr>
          <p:cNvPr id="38" name="text-115"/>
          <p:cNvSpPr txBox="1"/>
          <p:nvPr/>
        </p:nvSpPr>
        <p:spPr>
          <a:xfrm>
            <a:off x="5532120" y="2651760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Rainfed share, crop concentration, yield CV, smallholders, self-sufficiency</a:t>
            </a:r>
            <a:endParaRPr lang="en-US" sz="950" dirty="0"/>
          </a:p>
        </p:txBody>
      </p:sp>
      <p:sp>
        <p:nvSpPr>
          <p:cNvPr id="39" name="text-116"/>
          <p:cNvSpPr txBox="1"/>
          <p:nvPr/>
        </p:nvSpPr>
        <p:spPr>
          <a:xfrm>
            <a:off x="5532120" y="3310128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+ groundwater stress</a:t>
            </a:r>
            <a:endParaRPr lang="en-US" sz="950" dirty="0"/>
          </a:p>
        </p:txBody>
      </p:sp>
      <p:sp>
        <p:nvSpPr>
          <p:cNvPr id="40" name="card-117"/>
          <p:cNvSpPr/>
          <p:nvPr/>
        </p:nvSpPr>
        <p:spPr>
          <a:xfrm>
            <a:off x="7086600" y="2212848"/>
            <a:ext cx="1554480" cy="1371600"/>
          </a:xfrm>
          <a:prstGeom prst="roundRect">
            <a:avLst>
              <a:gd name="adj" fmla="val 4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1" name="text-118"/>
          <p:cNvSpPr txBox="1"/>
          <p:nvPr/>
        </p:nvSpPr>
        <p:spPr>
          <a:xfrm>
            <a:off x="7178040" y="224942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0.25</a:t>
            </a:r>
            <a:endParaRPr lang="en-US" sz="2000" dirty="0"/>
          </a:p>
        </p:txBody>
      </p:sp>
      <p:sp>
        <p:nvSpPr>
          <p:cNvPr id="42" name="text-119"/>
          <p:cNvSpPr txBox="1"/>
          <p:nvPr/>
        </p:nvSpPr>
        <p:spPr>
          <a:xfrm>
            <a:off x="7799832" y="228600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Capacity deficit</a:t>
            </a:r>
            <a:endParaRPr lang="en-US" sz="1000" dirty="0"/>
          </a:p>
        </p:txBody>
      </p:sp>
      <p:sp>
        <p:nvSpPr>
          <p:cNvPr id="43" name="text-120"/>
          <p:cNvSpPr txBox="1"/>
          <p:nvPr/>
        </p:nvSpPr>
        <p:spPr>
          <a:xfrm>
            <a:off x="7178040" y="2651760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NFHS stunting, wasting, anaemia, PDS dependency, climate vulnerability</a:t>
            </a:r>
            <a:endParaRPr lang="en-US" sz="950" dirty="0"/>
          </a:p>
        </p:txBody>
      </p:sp>
      <p:sp>
        <p:nvSpPr>
          <p:cNvPr id="44" name="text-121"/>
          <p:cNvSpPr txBox="1"/>
          <p:nvPr/>
        </p:nvSpPr>
        <p:spPr>
          <a:xfrm>
            <a:off x="7178040" y="3310128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+ Poshan live underweight</a:t>
            </a:r>
            <a:endParaRPr lang="en-US" sz="950" dirty="0"/>
          </a:p>
        </p:txBody>
      </p:sp>
      <p:sp>
        <p:nvSpPr>
          <p:cNvPr id="45" name="card-122"/>
          <p:cNvSpPr/>
          <p:nvPr/>
        </p:nvSpPr>
        <p:spPr>
          <a:xfrm>
            <a:off x="457200" y="3703320"/>
            <a:ext cx="5440680" cy="1051560"/>
          </a:xfrm>
          <a:prstGeom prst="roundRect">
            <a:avLst>
              <a:gd name="adj" fmla="val 608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6" name="text-123"/>
          <p:cNvSpPr txBox="1"/>
          <p:nvPr/>
        </p:nvSpPr>
        <p:spPr>
          <a:xfrm>
            <a:off x="566928" y="374904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Season-specific drivers (same 0.45 / 0.30 / 0.25 score)</a:t>
            </a:r>
            <a:endParaRPr lang="en-US" sz="1050" dirty="0"/>
          </a:p>
        </p:txBody>
      </p:sp>
      <p:sp>
        <p:nvSpPr>
          <p:cNvPr id="47" name="text-124"/>
          <p:cNvSpPr txBox="1"/>
          <p:nvPr/>
        </p:nvSpPr>
        <p:spPr>
          <a:xfrm>
            <a:off x="566928" y="3986784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chemeClr val="accent1"/>
                </a:solidFill>
              </a:rPr>
              <a:t>Kharif: </a:t>
            </a:r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JJAS rain, dry spells, onset, heat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chemeClr val="accent1"/>
                </a:solidFill>
              </a:rPr>
              <a:t>Rabi: </a:t>
            </a:r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OND rain, Feb-Mar terminal heat, groundwater stress, previous-kharif carry-over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chemeClr val="accent1"/>
                </a:solidFill>
              </a:rPr>
              <a:t>Phases: </a:t>
            </a:r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La Niña (flood rule), Neutral, El Niño, Strong; Current = probability-weighted</a:t>
            </a:r>
            <a:endParaRPr lang="en-US" sz="950" dirty="0"/>
          </a:p>
        </p:txBody>
      </p:sp>
      <p:sp>
        <p:nvSpPr>
          <p:cNvPr id="48" name="card-125"/>
          <p:cNvSpPr/>
          <p:nvPr/>
        </p:nvSpPr>
        <p:spPr>
          <a:xfrm>
            <a:off x="5989320" y="3703320"/>
            <a:ext cx="2697480" cy="1051560"/>
          </a:xfrm>
          <a:prstGeom prst="roundRect">
            <a:avLst>
              <a:gd name="adj" fmla="val 6087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9" name="text-126"/>
          <p:cNvSpPr txBox="1"/>
          <p:nvPr/>
        </p:nvSpPr>
        <p:spPr>
          <a:xfrm>
            <a:off x="6099048" y="3703320"/>
            <a:ext cx="2514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score = 100 × (0.45 E + 0.30 S + 0.25 C). Scenarios with uncertainty, not forecasts; skill is leave-one-year-out.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Would it have warned? Yes, in sample and out of sample</a:t>
            </a:r>
            <a:endParaRPr lang="en-US" sz="2400" dirty="0"/>
          </a:p>
        </p:txBody>
      </p:sp>
      <p:graphicFrame>
        <p:nvGraphicFramePr>
          <p:cNvPr id="8" name="hindcast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0292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60120"/>
                <a:gridCol w="1143000"/>
                <a:gridCol w="868680"/>
                <a:gridCol w="8686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Year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Analog ρ in-sample (neg = good)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LightGBM ρ, out-of-sample (pos = good)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Analog gap pp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LightGBM gap pp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2009  El Niño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-0.30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+0.28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-16.1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-16.3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2014  Neutral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-0.07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+0.46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-4.0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-25.0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2015  El Niño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-0.53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+0.33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-27.3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-12.1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2023  El Niño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-0.27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+0.24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-10.5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-11.3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Rabi (4 winters)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-0.09 to -0.27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+0.32 pooled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-3 to -13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-5 to -19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card-127"/>
          <p:cNvSpPr/>
          <p:nvPr/>
        </p:nvSpPr>
        <p:spPr>
          <a:xfrm>
            <a:off x="457200" y="3017520"/>
            <a:ext cx="5029200" cy="1719072"/>
          </a:xfrm>
          <a:prstGeom prst="roundRect">
            <a:avLst>
              <a:gd name="adj" fmla="val 372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text-128"/>
          <p:cNvSpPr txBox="1"/>
          <p:nvPr/>
        </p:nvSpPr>
        <p:spPr>
          <a:xfrm>
            <a:off x="594360" y="3054096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Yield gap, worst- vs best-predicted tercile (pp; negative = good)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3273552"/>
          <a:ext cx="4846320" cy="144475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card-129"/>
          <p:cNvSpPr/>
          <p:nvPr/>
        </p:nvSpPr>
        <p:spPr>
          <a:xfrm>
            <a:off x="5669280" y="1051560"/>
            <a:ext cx="3017520" cy="12801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-130"/>
          <p:cNvSpPr txBox="1"/>
          <p:nvPr/>
        </p:nvSpPr>
        <p:spPr>
          <a:xfrm>
            <a:off x="5779008" y="10972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Nandurbar, Maharashtra (2015 hindcast)</a:t>
            </a:r>
            <a:endParaRPr lang="en-US" sz="1150" dirty="0"/>
          </a:p>
        </p:txBody>
      </p:sp>
      <p:sp>
        <p:nvSpPr>
          <p:cNvPr id="10" name="text-131"/>
          <p:cNvSpPr txBox="1"/>
          <p:nvPr/>
        </p:nvSpPr>
        <p:spPr>
          <a:xfrm>
            <a:off x="5779008" y="1389888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72.1</a:t>
            </a:r>
            <a:endParaRPr lang="en-US" sz="2100" dirty="0"/>
          </a:p>
        </p:txBody>
      </p:sp>
      <p:sp>
        <p:nvSpPr>
          <p:cNvPr id="11" name="text-132"/>
          <p:cNvSpPr txBox="1"/>
          <p:nvPr/>
        </p:nvSpPr>
        <p:spPr>
          <a:xfrm>
            <a:off x="5779008" y="1865376"/>
            <a:ext cx="932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Kharif El Niño score, rank 2</a:t>
            </a:r>
            <a:endParaRPr lang="en-US" sz="950" dirty="0"/>
          </a:p>
        </p:txBody>
      </p:sp>
      <p:sp>
        <p:nvSpPr>
          <p:cNvPr id="12" name="text-133"/>
          <p:cNvSpPr txBox="1"/>
          <p:nvPr/>
        </p:nvSpPr>
        <p:spPr>
          <a:xfrm>
            <a:off x="6766560" y="1389888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2"/>
                </a:solidFill>
              </a:rPr>
              <a:t>-26.6%</a:t>
            </a:r>
            <a:endParaRPr lang="en-US" sz="2100" dirty="0"/>
          </a:p>
        </p:txBody>
      </p:sp>
      <p:sp>
        <p:nvSpPr>
          <p:cNvPr id="13" name="text-134"/>
          <p:cNvSpPr txBox="1"/>
          <p:nvPr/>
        </p:nvSpPr>
        <p:spPr>
          <a:xfrm>
            <a:off x="6766560" y="1865376"/>
            <a:ext cx="932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actual yield 2015</a:t>
            </a:r>
            <a:endParaRPr lang="en-US" sz="950" dirty="0"/>
          </a:p>
        </p:txBody>
      </p:sp>
      <p:sp>
        <p:nvSpPr>
          <p:cNvPr id="14" name="text-135"/>
          <p:cNvSpPr txBox="1"/>
          <p:nvPr/>
        </p:nvSpPr>
        <p:spPr>
          <a:xfrm>
            <a:off x="7754112" y="1389888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3"/>
                </a:solidFill>
              </a:rPr>
              <a:t>-11.9%</a:t>
            </a:r>
            <a:endParaRPr lang="en-US" sz="2100" dirty="0"/>
          </a:p>
        </p:txBody>
      </p:sp>
      <p:sp>
        <p:nvSpPr>
          <p:cNvPr id="15" name="text-136"/>
          <p:cNvSpPr txBox="1"/>
          <p:nvPr/>
        </p:nvSpPr>
        <p:spPr>
          <a:xfrm>
            <a:off x="7754112" y="1865376"/>
            <a:ext cx="932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LightGBM, out-of-sample</a:t>
            </a:r>
            <a:endParaRPr lang="en-US" sz="950" dirty="0"/>
          </a:p>
        </p:txBody>
      </p:sp>
      <p:pic>
        <p:nvPicPr>
          <p:cNvPr id="16" name="Image 0" descr="AnnaDrishti app screenshot: hist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2468880"/>
            <a:ext cx="3017520" cy="1999107"/>
          </a:xfrm>
          <a:prstGeom prst="rect">
            <a:avLst/>
          </a:prstGeom>
        </p:spPr>
      </p:pic>
      <p:sp>
        <p:nvSpPr>
          <p:cNvPr id="17" name="frame-137"/>
          <p:cNvSpPr/>
          <p:nvPr/>
        </p:nvSpPr>
        <p:spPr>
          <a:xfrm>
            <a:off x="5669280" y="2468880"/>
            <a:ext cx="3017520" cy="1999107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8" name="text-138"/>
          <p:cNvSpPr txBox="1"/>
          <p:nvPr/>
        </p:nvSpPr>
        <p:spPr>
          <a:xfrm>
            <a:off x="5669280" y="4504563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History mode lets any user replay 2003-2024: in 2015 the tool would have warned in 71% of districts where the harvest fell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Under El Niño: 190 districts need action in Rabi, 242 in Kharif</a:t>
            </a:r>
            <a:endParaRPr lang="en-US" sz="2400" dirty="0"/>
          </a:p>
        </p:txBody>
      </p:sp>
      <p:sp>
        <p:nvSpPr>
          <p:cNvPr id="4" name="card-139"/>
          <p:cNvSpPr/>
          <p:nvPr/>
        </p:nvSpPr>
        <p:spPr>
          <a:xfrm>
            <a:off x="457200" y="1051560"/>
            <a:ext cx="4023360" cy="3154680"/>
          </a:xfrm>
          <a:prstGeom prst="roundRect">
            <a:avLst>
              <a:gd name="adj" fmla="val 2029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140"/>
          <p:cNvSpPr txBox="1"/>
          <p:nvPr/>
        </p:nvSpPr>
        <p:spPr>
          <a:xfrm>
            <a:off x="566928" y="10972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Rabi 2026-27, El Niño</a:t>
            </a:r>
            <a:endParaRPr lang="en-US" sz="1300" dirty="0"/>
          </a:p>
        </p:txBody>
      </p:sp>
      <p:sp>
        <p:nvSpPr>
          <p:cNvPr id="6" name="text-141"/>
          <p:cNvSpPr txBox="1"/>
          <p:nvPr/>
        </p:nvSpPr>
        <p:spPr>
          <a:xfrm>
            <a:off x="2743200" y="112471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sowing now; act by 15 Nov 2026</a:t>
            </a:r>
            <a:endParaRPr lang="en-US" sz="950" dirty="0"/>
          </a:p>
        </p:txBody>
      </p:sp>
      <p:pic>
        <p:nvPicPr>
          <p:cNvPr id="7" name="Image 0" descr="AnnaDrishti app screenshot: map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17320"/>
            <a:ext cx="1828800" cy="713232"/>
          </a:xfrm>
          <a:prstGeom prst="rect">
            <a:avLst/>
          </a:prstGeom>
        </p:spPr>
      </p:pic>
      <p:sp>
        <p:nvSpPr>
          <p:cNvPr id="8" name="frame-142"/>
          <p:cNvSpPr/>
          <p:nvPr/>
        </p:nvSpPr>
        <p:spPr>
          <a:xfrm>
            <a:off x="566928" y="1417320"/>
            <a:ext cx="1828800" cy="71323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card-143"/>
          <p:cNvSpPr/>
          <p:nvPr/>
        </p:nvSpPr>
        <p:spPr>
          <a:xfrm>
            <a:off x="2487168" y="1417320"/>
            <a:ext cx="932688" cy="512064"/>
          </a:xfrm>
          <a:prstGeom prst="roundRect">
            <a:avLst>
              <a:gd name="adj" fmla="val 12500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-144"/>
          <p:cNvSpPr txBox="1"/>
          <p:nvPr/>
        </p:nvSpPr>
        <p:spPr>
          <a:xfrm>
            <a:off x="2542032" y="1435608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190</a:t>
            </a:r>
            <a:endParaRPr lang="en-US" sz="1500" dirty="0"/>
          </a:p>
        </p:txBody>
      </p:sp>
      <p:sp>
        <p:nvSpPr>
          <p:cNvPr id="11" name="text-145"/>
          <p:cNvSpPr txBox="1"/>
          <p:nvPr/>
        </p:nvSpPr>
        <p:spPr>
          <a:xfrm>
            <a:off x="2542032" y="170992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districts need action</a:t>
            </a:r>
            <a:endParaRPr lang="en-US" sz="850" dirty="0"/>
          </a:p>
        </p:txBody>
      </p:sp>
      <p:sp>
        <p:nvSpPr>
          <p:cNvPr id="12" name="card-146"/>
          <p:cNvSpPr/>
          <p:nvPr/>
        </p:nvSpPr>
        <p:spPr>
          <a:xfrm>
            <a:off x="3474720" y="1417320"/>
            <a:ext cx="932688" cy="512064"/>
          </a:xfrm>
          <a:prstGeom prst="roundRect">
            <a:avLst>
              <a:gd name="adj" fmla="val 12500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-147"/>
          <p:cNvSpPr txBox="1"/>
          <p:nvPr/>
        </p:nvSpPr>
        <p:spPr>
          <a:xfrm>
            <a:off x="3529584" y="1435608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35.4 cr</a:t>
            </a:r>
            <a:endParaRPr lang="en-US" sz="1500" dirty="0"/>
          </a:p>
        </p:txBody>
      </p:sp>
      <p:sp>
        <p:nvSpPr>
          <p:cNvPr id="14" name="text-148"/>
          <p:cNvSpPr txBox="1"/>
          <p:nvPr/>
        </p:nvSpPr>
        <p:spPr>
          <a:xfrm>
            <a:off x="3529584" y="170992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people</a:t>
            </a:r>
            <a:endParaRPr lang="en-US" sz="850" dirty="0"/>
          </a:p>
        </p:txBody>
      </p:sp>
      <p:sp>
        <p:nvSpPr>
          <p:cNvPr id="15" name="card-149"/>
          <p:cNvSpPr/>
          <p:nvPr/>
        </p:nvSpPr>
        <p:spPr>
          <a:xfrm>
            <a:off x="2487168" y="1984248"/>
            <a:ext cx="932688" cy="512064"/>
          </a:xfrm>
          <a:prstGeom prst="roundRect">
            <a:avLst>
              <a:gd name="adj" fmla="val 12500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-150"/>
          <p:cNvSpPr txBox="1"/>
          <p:nvPr/>
        </p:nvSpPr>
        <p:spPr>
          <a:xfrm>
            <a:off x="2542032" y="20025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2.7 cr</a:t>
            </a:r>
            <a:endParaRPr lang="en-US" sz="1500" dirty="0"/>
          </a:p>
        </p:txBody>
      </p:sp>
      <p:sp>
        <p:nvSpPr>
          <p:cNvPr id="17" name="text-151"/>
          <p:cNvSpPr txBox="1"/>
          <p:nvPr/>
        </p:nvSpPr>
        <p:spPr>
          <a:xfrm>
            <a:off x="2542032" y="2276856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children &lt;5</a:t>
            </a:r>
            <a:endParaRPr lang="en-US" sz="850" dirty="0"/>
          </a:p>
        </p:txBody>
      </p:sp>
      <p:sp>
        <p:nvSpPr>
          <p:cNvPr id="18" name="card-152"/>
          <p:cNvSpPr/>
          <p:nvPr/>
        </p:nvSpPr>
        <p:spPr>
          <a:xfrm>
            <a:off x="3474720" y="1984248"/>
            <a:ext cx="932688" cy="512064"/>
          </a:xfrm>
          <a:prstGeom prst="roundRect">
            <a:avLst>
              <a:gd name="adj" fmla="val 12500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-153"/>
          <p:cNvSpPr txBox="1"/>
          <p:nvPr/>
        </p:nvSpPr>
        <p:spPr>
          <a:xfrm>
            <a:off x="3529584" y="20025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-1.4%</a:t>
            </a:r>
            <a:endParaRPr lang="en-US" sz="1500" dirty="0"/>
          </a:p>
        </p:txBody>
      </p:sp>
      <p:sp>
        <p:nvSpPr>
          <p:cNvPr id="20" name="text-154"/>
          <p:cNvSpPr txBox="1"/>
          <p:nvPr/>
        </p:nvSpPr>
        <p:spPr>
          <a:xfrm>
            <a:off x="3529584" y="2276856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national shock</a:t>
            </a:r>
            <a:endParaRPr lang="en-US" sz="850" dirty="0"/>
          </a:p>
        </p:txBody>
      </p:sp>
      <p:graphicFrame>
        <p:nvGraphicFramePr>
          <p:cNvPr id="9" name="top5-0.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697480"/>
          <a:ext cx="3803904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2194560"/>
                <a:gridCol w="548640"/>
                <a:gridCol w="786384"/>
              </a:tblGrid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#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Top districts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Score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Shock %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Kalaburagi, KA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</a:rPr>
                        <a:t>76.2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-16.1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Giridih, JH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</a:rPr>
                        <a:t>76.0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-8.9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Gumla, JH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</a:rPr>
                        <a:t>74.1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-7.8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Purbi Singhbhum, JH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</a:rPr>
                        <a:t>73.8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-5.0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Simdega, JH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</a:rPr>
                        <a:t>72.5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-8.8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2" name="card-155"/>
          <p:cNvSpPr/>
          <p:nvPr/>
        </p:nvSpPr>
        <p:spPr>
          <a:xfrm>
            <a:off x="4663440" y="1051560"/>
            <a:ext cx="4023360" cy="3154680"/>
          </a:xfrm>
          <a:prstGeom prst="roundRect">
            <a:avLst>
              <a:gd name="adj" fmla="val 2029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3" name="text-156"/>
          <p:cNvSpPr txBox="1"/>
          <p:nvPr/>
        </p:nvSpPr>
        <p:spPr>
          <a:xfrm>
            <a:off x="4773168" y="10972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Kharif 2027, El Niño</a:t>
            </a:r>
            <a:endParaRPr lang="en-US" sz="1300" dirty="0"/>
          </a:p>
        </p:txBody>
      </p:sp>
      <p:sp>
        <p:nvSpPr>
          <p:cNvPr id="24" name="text-157"/>
          <p:cNvSpPr txBox="1"/>
          <p:nvPr/>
        </p:nvSpPr>
        <p:spPr>
          <a:xfrm>
            <a:off x="6949440" y="112471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upcoming; act by 15 May 2027</a:t>
            </a:r>
            <a:endParaRPr lang="en-US" sz="950" dirty="0"/>
          </a:p>
        </p:txBody>
      </p:sp>
      <p:pic>
        <p:nvPicPr>
          <p:cNvPr id="25" name="Image 1" descr="AnnaDrishti app screenshot: map_k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1417320"/>
            <a:ext cx="1828800" cy="713232"/>
          </a:xfrm>
          <a:prstGeom prst="rect">
            <a:avLst/>
          </a:prstGeom>
        </p:spPr>
      </p:pic>
      <p:sp>
        <p:nvSpPr>
          <p:cNvPr id="26" name="frame-158"/>
          <p:cNvSpPr/>
          <p:nvPr/>
        </p:nvSpPr>
        <p:spPr>
          <a:xfrm>
            <a:off x="4773168" y="1417320"/>
            <a:ext cx="1828800" cy="71323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7" name="card-159"/>
          <p:cNvSpPr/>
          <p:nvPr/>
        </p:nvSpPr>
        <p:spPr>
          <a:xfrm>
            <a:off x="6693408" y="1417320"/>
            <a:ext cx="932688" cy="512064"/>
          </a:xfrm>
          <a:prstGeom prst="roundRect">
            <a:avLst>
              <a:gd name="adj" fmla="val 12500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8" name="text-160"/>
          <p:cNvSpPr txBox="1"/>
          <p:nvPr/>
        </p:nvSpPr>
        <p:spPr>
          <a:xfrm>
            <a:off x="6748272" y="1435608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242</a:t>
            </a:r>
            <a:endParaRPr lang="en-US" sz="1500" dirty="0"/>
          </a:p>
        </p:txBody>
      </p:sp>
      <p:sp>
        <p:nvSpPr>
          <p:cNvPr id="29" name="text-161"/>
          <p:cNvSpPr txBox="1"/>
          <p:nvPr/>
        </p:nvSpPr>
        <p:spPr>
          <a:xfrm>
            <a:off x="6748272" y="170992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districts need action</a:t>
            </a:r>
            <a:endParaRPr lang="en-US" sz="850" dirty="0"/>
          </a:p>
        </p:txBody>
      </p:sp>
      <p:sp>
        <p:nvSpPr>
          <p:cNvPr id="30" name="card-162"/>
          <p:cNvSpPr/>
          <p:nvPr/>
        </p:nvSpPr>
        <p:spPr>
          <a:xfrm>
            <a:off x="7680960" y="1417320"/>
            <a:ext cx="932688" cy="512064"/>
          </a:xfrm>
          <a:prstGeom prst="roundRect">
            <a:avLst>
              <a:gd name="adj" fmla="val 12500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1" name="text-163"/>
          <p:cNvSpPr txBox="1"/>
          <p:nvPr/>
        </p:nvSpPr>
        <p:spPr>
          <a:xfrm>
            <a:off x="7735824" y="1435608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54.7 cr</a:t>
            </a:r>
            <a:endParaRPr lang="en-US" sz="1500" dirty="0"/>
          </a:p>
        </p:txBody>
      </p:sp>
      <p:sp>
        <p:nvSpPr>
          <p:cNvPr id="32" name="text-164"/>
          <p:cNvSpPr txBox="1"/>
          <p:nvPr/>
        </p:nvSpPr>
        <p:spPr>
          <a:xfrm>
            <a:off x="7735824" y="170992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people</a:t>
            </a:r>
            <a:endParaRPr lang="en-US" sz="850" dirty="0"/>
          </a:p>
        </p:txBody>
      </p:sp>
      <p:sp>
        <p:nvSpPr>
          <p:cNvPr id="33" name="card-165"/>
          <p:cNvSpPr/>
          <p:nvPr/>
        </p:nvSpPr>
        <p:spPr>
          <a:xfrm>
            <a:off x="6693408" y="1984248"/>
            <a:ext cx="932688" cy="512064"/>
          </a:xfrm>
          <a:prstGeom prst="roundRect">
            <a:avLst>
              <a:gd name="adj" fmla="val 12500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4" name="text-166"/>
          <p:cNvSpPr txBox="1"/>
          <p:nvPr/>
        </p:nvSpPr>
        <p:spPr>
          <a:xfrm>
            <a:off x="6748272" y="20025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4.9 cr</a:t>
            </a:r>
            <a:endParaRPr lang="en-US" sz="1500" dirty="0"/>
          </a:p>
        </p:txBody>
      </p:sp>
      <p:sp>
        <p:nvSpPr>
          <p:cNvPr id="35" name="text-167"/>
          <p:cNvSpPr txBox="1"/>
          <p:nvPr/>
        </p:nvSpPr>
        <p:spPr>
          <a:xfrm>
            <a:off x="6748272" y="2276856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children &lt;5</a:t>
            </a:r>
            <a:endParaRPr lang="en-US" sz="850" dirty="0"/>
          </a:p>
        </p:txBody>
      </p:sp>
      <p:sp>
        <p:nvSpPr>
          <p:cNvPr id="36" name="card-168"/>
          <p:cNvSpPr/>
          <p:nvPr/>
        </p:nvSpPr>
        <p:spPr>
          <a:xfrm>
            <a:off x="7680960" y="1984248"/>
            <a:ext cx="932688" cy="512064"/>
          </a:xfrm>
          <a:prstGeom prst="roundRect">
            <a:avLst>
              <a:gd name="adj" fmla="val 12500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7" name="text-169"/>
          <p:cNvSpPr txBox="1"/>
          <p:nvPr/>
        </p:nvSpPr>
        <p:spPr>
          <a:xfrm>
            <a:off x="7735824" y="20025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-5.9%</a:t>
            </a:r>
            <a:endParaRPr lang="en-US" sz="1500" dirty="0"/>
          </a:p>
        </p:txBody>
      </p:sp>
      <p:sp>
        <p:nvSpPr>
          <p:cNvPr id="38" name="text-170"/>
          <p:cNvSpPr txBox="1"/>
          <p:nvPr/>
        </p:nvSpPr>
        <p:spPr>
          <a:xfrm>
            <a:off x="7735824" y="2276856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national shock</a:t>
            </a:r>
            <a:endParaRPr lang="en-US" sz="850" dirty="0"/>
          </a:p>
        </p:txBody>
      </p:sp>
      <p:graphicFrame>
        <p:nvGraphicFramePr>
          <p:cNvPr id="17" name="top5-5.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73168" y="2697480"/>
          <a:ext cx="3803904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2194560"/>
                <a:gridCol w="548640"/>
                <a:gridCol w="786384"/>
              </a:tblGrid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#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Top districts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Score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Shock %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Bilaspur, CG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</a:rPr>
                        <a:t>72.8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-15.4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Nandurbar, MH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</a:rPr>
                        <a:t>72.1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-9.4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Balangir, OD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</a:rPr>
                        <a:t>72.0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-15.9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Korba, CG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</a:rPr>
                        <a:t>71.1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-19.1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Kendujhar, OD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</a:rPr>
                        <a:t>71.0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-18.1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0" name="card-171"/>
          <p:cNvSpPr/>
          <p:nvPr/>
        </p:nvSpPr>
        <p:spPr>
          <a:xfrm>
            <a:off x="457200" y="4315968"/>
            <a:ext cx="8229600" cy="457200"/>
          </a:xfrm>
          <a:prstGeom prst="roundRect">
            <a:avLst>
              <a:gd name="adj" fmla="val 14000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1" name="text-172"/>
          <p:cNvSpPr txBox="1"/>
          <p:nvPr/>
        </p:nvSpPr>
        <p:spPr>
          <a:xfrm>
            <a:off x="594360" y="431596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1"/>
                </a:solidFill>
              </a:rPr>
              <a:t>Wheat belt (Punjab / Haryana) shows low rabi risk: the terminal-heat signal is flat there in our data. Flagged for review, not tuned.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Gemini as analyst: grounded, personalised, tool-using</a:t>
            </a:r>
            <a:endParaRPr lang="en-US" sz="2400" dirty="0"/>
          </a:p>
        </p:txBody>
      </p:sp>
      <p:sp>
        <p:nvSpPr>
          <p:cNvPr id="4" name="card-173"/>
          <p:cNvSpPr/>
          <p:nvPr/>
        </p:nvSpPr>
        <p:spPr>
          <a:xfrm>
            <a:off x="457200" y="1051560"/>
            <a:ext cx="1783080" cy="841248"/>
          </a:xfrm>
          <a:prstGeom prst="roundRect">
            <a:avLst>
              <a:gd name="adj" fmla="val 7609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174"/>
          <p:cNvSpPr txBox="1"/>
          <p:nvPr/>
        </p:nvSpPr>
        <p:spPr>
          <a:xfrm>
            <a:off x="548640" y="10972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District evidence JSON</a:t>
            </a:r>
            <a:endParaRPr lang="en-US" sz="1150" dirty="0"/>
          </a:p>
        </p:txBody>
      </p:sp>
      <p:sp>
        <p:nvSpPr>
          <p:cNvPr id="6" name="text-175"/>
          <p:cNvSpPr txBox="1"/>
          <p:nvPr/>
        </p:nvSpPr>
        <p:spPr>
          <a:xfrm>
            <a:off x="548640" y="1353312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drivers, analog + LightGBM shock, NFHS, prices, groundwater, live NDVI</a:t>
            </a:r>
            <a:endParaRPr lang="en-US" sz="950" dirty="0"/>
          </a:p>
        </p:txBody>
      </p:sp>
      <p:sp>
        <p:nvSpPr>
          <p:cNvPr id="7" name="card-176"/>
          <p:cNvSpPr/>
          <p:nvPr/>
        </p:nvSpPr>
        <p:spPr>
          <a:xfrm>
            <a:off x="457200" y="1984248"/>
            <a:ext cx="1783080" cy="841248"/>
          </a:xfrm>
          <a:prstGeom prst="roundRect">
            <a:avLst>
              <a:gd name="adj" fmla="val 7609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-177"/>
          <p:cNvSpPr txBox="1"/>
          <p:nvPr/>
        </p:nvSpPr>
        <p:spPr>
          <a:xfrm>
            <a:off x="548640" y="20299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Grounding rules</a:t>
            </a:r>
            <a:endParaRPr lang="en-US" sz="1150" dirty="0"/>
          </a:p>
        </p:txBody>
      </p:sp>
      <p:sp>
        <p:nvSpPr>
          <p:cNvPr id="9" name="text-178"/>
          <p:cNvSpPr txBox="1"/>
          <p:nvPr/>
        </p:nvSpPr>
        <p:spPr>
          <a:xfrm>
            <a:off x="548640" y="228600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cite ≤ 3 numbers; never invent; null → 'not available'; 'not a forecast'</a:t>
            </a:r>
            <a:endParaRPr lang="en-US" sz="950" dirty="0"/>
          </a:p>
        </p:txBody>
      </p:sp>
      <p:sp>
        <p:nvSpPr>
          <p:cNvPr id="10" name="arrow-179"/>
          <p:cNvSpPr/>
          <p:nvPr/>
        </p:nvSpPr>
        <p:spPr>
          <a:xfrm>
            <a:off x="2240280" y="1472184"/>
            <a:ext cx="274320" cy="265176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1" name="arrow-180"/>
          <p:cNvSpPr/>
          <p:nvPr/>
        </p:nvSpPr>
        <p:spPr>
          <a:xfrm flipV="1">
            <a:off x="2240280" y="2103120"/>
            <a:ext cx="274320" cy="301752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2" name="card-181"/>
          <p:cNvSpPr/>
          <p:nvPr/>
        </p:nvSpPr>
        <p:spPr>
          <a:xfrm>
            <a:off x="2514600" y="1051560"/>
            <a:ext cx="1325880" cy="1773936"/>
          </a:xfrm>
          <a:prstGeom prst="roundRect">
            <a:avLst>
              <a:gd name="adj" fmla="val 4828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3" name="text-182"/>
          <p:cNvSpPr txBox="1"/>
          <p:nvPr/>
        </p:nvSpPr>
        <p:spPr>
          <a:xfrm>
            <a:off x="2560320" y="137160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Gemini 2.5 Flash</a:t>
            </a:r>
            <a:endParaRPr lang="en-US" sz="1500" dirty="0"/>
          </a:p>
        </p:txBody>
      </p:sp>
      <p:sp>
        <p:nvSpPr>
          <p:cNvPr id="14" name="text-183"/>
          <p:cNvSpPr txBox="1"/>
          <p:nvPr/>
        </p:nvSpPr>
        <p:spPr>
          <a:xfrm>
            <a:off x="2560320" y="205740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grounded, low temperature, 9 languages, TTS</a:t>
            </a:r>
            <a:endParaRPr lang="en-US" sz="1000" dirty="0"/>
          </a:p>
        </p:txBody>
      </p:sp>
      <p:sp>
        <p:nvSpPr>
          <p:cNvPr id="15" name="arrow-184"/>
          <p:cNvSpPr/>
          <p:nvPr/>
        </p:nvSpPr>
        <p:spPr>
          <a:xfrm>
            <a:off x="3840480" y="1938528"/>
            <a:ext cx="27432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6" name="card-185"/>
          <p:cNvSpPr/>
          <p:nvPr/>
        </p:nvSpPr>
        <p:spPr>
          <a:xfrm>
            <a:off x="4114800" y="1051560"/>
            <a:ext cx="2103120" cy="548640"/>
          </a:xfrm>
          <a:prstGeom prst="roundRect">
            <a:avLst>
              <a:gd name="adj" fmla="val 11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-186"/>
          <p:cNvSpPr txBox="1"/>
          <p:nvPr/>
        </p:nvSpPr>
        <p:spPr>
          <a:xfrm>
            <a:off x="4187952" y="1088136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Official briefing</a:t>
            </a:r>
            <a:endParaRPr lang="en-US" sz="1100" dirty="0"/>
          </a:p>
        </p:txBody>
      </p:sp>
      <p:sp>
        <p:nvSpPr>
          <p:cNvPr id="18" name="text-187"/>
          <p:cNvSpPr txBox="1"/>
          <p:nvPr/>
        </p:nvSpPr>
        <p:spPr>
          <a:xfrm>
            <a:off x="4187952" y="1298448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per department lens, 5 actions with unit + lead time</a:t>
            </a:r>
            <a:endParaRPr lang="en-US" sz="950" dirty="0"/>
          </a:p>
        </p:txBody>
      </p:sp>
      <p:sp>
        <p:nvSpPr>
          <p:cNvPr id="19" name="card-188"/>
          <p:cNvSpPr/>
          <p:nvPr/>
        </p:nvSpPr>
        <p:spPr>
          <a:xfrm>
            <a:off x="4114800" y="1655064"/>
            <a:ext cx="2103120" cy="548640"/>
          </a:xfrm>
          <a:prstGeom prst="roundRect">
            <a:avLst>
              <a:gd name="adj" fmla="val 11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-189"/>
          <p:cNvSpPr txBox="1"/>
          <p:nvPr/>
        </p:nvSpPr>
        <p:spPr>
          <a:xfrm>
            <a:off x="4187952" y="169164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Farmer advisory</a:t>
            </a:r>
            <a:endParaRPr lang="en-US" sz="1100" dirty="0"/>
          </a:p>
        </p:txBody>
      </p:sp>
      <p:sp>
        <p:nvSpPr>
          <p:cNvPr id="21" name="text-190"/>
          <p:cNvSpPr txBox="1"/>
          <p:nvPr/>
        </p:nvSpPr>
        <p:spPr>
          <a:xfrm>
            <a:off x="4187952" y="1901952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in 9 languages, spoken via Gemini TTS</a:t>
            </a:r>
            <a:endParaRPr lang="en-US" sz="950" dirty="0"/>
          </a:p>
        </p:txBody>
      </p:sp>
      <p:sp>
        <p:nvSpPr>
          <p:cNvPr id="22" name="card-191"/>
          <p:cNvSpPr/>
          <p:nvPr/>
        </p:nvSpPr>
        <p:spPr>
          <a:xfrm>
            <a:off x="4114800" y="2258568"/>
            <a:ext cx="2103120" cy="548640"/>
          </a:xfrm>
          <a:prstGeom prst="roundRect">
            <a:avLst>
              <a:gd name="adj" fmla="val 11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3" name="text-192"/>
          <p:cNvSpPr txBox="1"/>
          <p:nvPr/>
        </p:nvSpPr>
        <p:spPr>
          <a:xfrm>
            <a:off x="4187952" y="2295144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State brief</a:t>
            </a:r>
            <a:endParaRPr lang="en-US" sz="1100" dirty="0"/>
          </a:p>
        </p:txBody>
      </p:sp>
      <p:sp>
        <p:nvSpPr>
          <p:cNvPr id="24" name="text-193"/>
          <p:cNvSpPr txBox="1"/>
          <p:nvPr/>
        </p:nvSpPr>
        <p:spPr>
          <a:xfrm>
            <a:off x="4187952" y="2505456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pre-positioning plan, rabi / kharif timeline</a:t>
            </a:r>
            <a:endParaRPr lang="en-US" sz="950" dirty="0"/>
          </a:p>
        </p:txBody>
      </p:sp>
      <p:sp>
        <p:nvSpPr>
          <p:cNvPr id="25" name="card-194"/>
          <p:cNvSpPr/>
          <p:nvPr/>
        </p:nvSpPr>
        <p:spPr>
          <a:xfrm>
            <a:off x="457200" y="3017520"/>
            <a:ext cx="5760720" cy="1691640"/>
          </a:xfrm>
          <a:prstGeom prst="roundRect">
            <a:avLst>
              <a:gd name="adj" fmla="val 3784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6" name="text-195"/>
          <p:cNvSpPr txBox="1"/>
          <p:nvPr/>
        </p:nvSpPr>
        <p:spPr>
          <a:xfrm>
            <a:off x="566928" y="307238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Ask the map: function calling over the data</a:t>
            </a:r>
            <a:endParaRPr lang="en-US" sz="1200" dirty="0"/>
          </a:p>
        </p:txBody>
      </p:sp>
      <p:sp>
        <p:nvSpPr>
          <p:cNvPr id="27" name="card-196"/>
          <p:cNvSpPr/>
          <p:nvPr/>
        </p:nvSpPr>
        <p:spPr>
          <a:xfrm>
            <a:off x="566928" y="3429000"/>
            <a:ext cx="1417320" cy="868680"/>
          </a:xfrm>
          <a:prstGeom prst="roundRect">
            <a:avLst>
              <a:gd name="adj" fmla="val 736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8" name="text-197"/>
          <p:cNvSpPr txBox="1"/>
          <p:nvPr/>
        </p:nvSpPr>
        <p:spPr>
          <a:xfrm>
            <a:off x="621792" y="3456432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"Which Maharashtra districts should pre-position pulses?"</a:t>
            </a:r>
            <a:endParaRPr lang="en-US" sz="1000" dirty="0"/>
          </a:p>
        </p:txBody>
      </p:sp>
      <p:sp>
        <p:nvSpPr>
          <p:cNvPr id="29" name="arrow-198"/>
          <p:cNvSpPr/>
          <p:nvPr/>
        </p:nvSpPr>
        <p:spPr>
          <a:xfrm>
            <a:off x="1984248" y="3858768"/>
            <a:ext cx="210312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0" name="card-199"/>
          <p:cNvSpPr/>
          <p:nvPr/>
        </p:nvSpPr>
        <p:spPr>
          <a:xfrm>
            <a:off x="2194560" y="3429000"/>
            <a:ext cx="914400" cy="868680"/>
          </a:xfrm>
          <a:prstGeom prst="roundRect">
            <a:avLst>
              <a:gd name="adj" fmla="val 7368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1" name="text-200"/>
          <p:cNvSpPr txBox="1"/>
          <p:nvPr/>
        </p:nvSpPr>
        <p:spPr>
          <a:xfrm>
            <a:off x="2194560" y="3429000"/>
            <a:ext cx="914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Gemini</a:t>
            </a:r>
            <a:endParaRPr lang="en-US" sz="1300" dirty="0"/>
          </a:p>
        </p:txBody>
      </p:sp>
      <p:sp>
        <p:nvSpPr>
          <p:cNvPr id="32" name="arrow-201"/>
          <p:cNvSpPr/>
          <p:nvPr/>
        </p:nvSpPr>
        <p:spPr>
          <a:xfrm>
            <a:off x="3108960" y="3858768"/>
            <a:ext cx="22860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3" name="card-202"/>
          <p:cNvSpPr/>
          <p:nvPr/>
        </p:nvSpPr>
        <p:spPr>
          <a:xfrm>
            <a:off x="3337560" y="3429000"/>
            <a:ext cx="1353312" cy="411480"/>
          </a:xfrm>
          <a:prstGeom prst="roundRect">
            <a:avLst>
              <a:gd name="adj" fmla="val 15556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4" name="text-203"/>
          <p:cNvSpPr txBox="1"/>
          <p:nvPr/>
        </p:nvSpPr>
        <p:spPr>
          <a:xfrm>
            <a:off x="3337560" y="342900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get_district</a:t>
            </a:r>
            <a:endParaRPr lang="en-US" sz="950" dirty="0"/>
          </a:p>
        </p:txBody>
      </p:sp>
      <p:sp>
        <p:nvSpPr>
          <p:cNvPr id="35" name="card-204"/>
          <p:cNvSpPr/>
          <p:nvPr/>
        </p:nvSpPr>
        <p:spPr>
          <a:xfrm>
            <a:off x="4754880" y="3429000"/>
            <a:ext cx="1353312" cy="411480"/>
          </a:xfrm>
          <a:prstGeom prst="roundRect">
            <a:avLst>
              <a:gd name="adj" fmla="val 15556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6" name="text-205"/>
          <p:cNvSpPr txBox="1"/>
          <p:nvPr/>
        </p:nvSpPr>
        <p:spPr>
          <a:xfrm>
            <a:off x="4754880" y="342900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rank_districts</a:t>
            </a:r>
            <a:endParaRPr lang="en-US" sz="950" dirty="0"/>
          </a:p>
        </p:txBody>
      </p:sp>
      <p:sp>
        <p:nvSpPr>
          <p:cNvPr id="37" name="card-206"/>
          <p:cNvSpPr/>
          <p:nvPr/>
        </p:nvSpPr>
        <p:spPr>
          <a:xfrm>
            <a:off x="3337560" y="3886200"/>
            <a:ext cx="1353312" cy="411480"/>
          </a:xfrm>
          <a:prstGeom prst="roundRect">
            <a:avLst>
              <a:gd name="adj" fmla="val 15556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8" name="text-207"/>
          <p:cNvSpPr txBox="1"/>
          <p:nvPr/>
        </p:nvSpPr>
        <p:spPr>
          <a:xfrm>
            <a:off x="3337560" y="388620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compare_scenarios</a:t>
            </a:r>
            <a:endParaRPr lang="en-US" sz="950" dirty="0"/>
          </a:p>
        </p:txBody>
      </p:sp>
      <p:sp>
        <p:nvSpPr>
          <p:cNvPr id="39" name="card-208"/>
          <p:cNvSpPr/>
          <p:nvPr/>
        </p:nvSpPr>
        <p:spPr>
          <a:xfrm>
            <a:off x="4754880" y="3886200"/>
            <a:ext cx="1353312" cy="411480"/>
          </a:xfrm>
          <a:prstGeom prst="roundRect">
            <a:avLst>
              <a:gd name="adj" fmla="val 15556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0" name="text-209"/>
          <p:cNvSpPr txBox="1"/>
          <p:nvPr/>
        </p:nvSpPr>
        <p:spPr>
          <a:xfrm>
            <a:off x="4754880" y="388620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national_summary</a:t>
            </a:r>
            <a:endParaRPr lang="en-US" sz="950" dirty="0"/>
          </a:p>
        </p:txBody>
      </p:sp>
      <p:sp>
        <p:nvSpPr>
          <p:cNvPr id="41" name="text-210"/>
          <p:cNvSpPr txBox="1"/>
          <p:nvPr/>
        </p:nvSpPr>
        <p:spPr>
          <a:xfrm>
            <a:off x="566928" y="4370832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Answers name districts, scores and scenario; the map highlights them. Up to 4 tool rounds; facts only from tools.</a:t>
            </a:r>
            <a:endParaRPr lang="en-US" sz="1000" dirty="0"/>
          </a:p>
        </p:txBody>
      </p:sp>
      <p:pic>
        <p:nvPicPr>
          <p:cNvPr id="42" name="Image 0" descr="AnnaDrishti app screenshot: far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051560"/>
            <a:ext cx="914400" cy="1780032"/>
          </a:xfrm>
          <a:prstGeom prst="rect">
            <a:avLst/>
          </a:prstGeom>
        </p:spPr>
      </p:pic>
      <p:sp>
        <p:nvSpPr>
          <p:cNvPr id="43" name="frame-211"/>
          <p:cNvSpPr/>
          <p:nvPr/>
        </p:nvSpPr>
        <p:spPr>
          <a:xfrm>
            <a:off x="6400800" y="1051560"/>
            <a:ext cx="914400" cy="178003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4" name="text-212"/>
          <p:cNvSpPr txBox="1"/>
          <p:nvPr/>
        </p:nvSpPr>
        <p:spPr>
          <a:xfrm>
            <a:off x="7406640" y="109728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Farmer view: phone-first, 9 languages, voice, profile</a:t>
            </a:r>
            <a:endParaRPr lang="en-US" sz="950" dirty="0"/>
          </a:p>
        </p:txBody>
      </p:sp>
      <p:sp>
        <p:nvSpPr>
          <p:cNvPr id="45" name="card-213"/>
          <p:cNvSpPr/>
          <p:nvPr/>
        </p:nvSpPr>
        <p:spPr>
          <a:xfrm>
            <a:off x="6400800" y="3017520"/>
            <a:ext cx="2286000" cy="1691640"/>
          </a:xfrm>
          <a:prstGeom prst="roundRect">
            <a:avLst>
              <a:gd name="adj" fmla="val 3784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6" name="text-214"/>
          <p:cNvSpPr txBox="1"/>
          <p:nvPr/>
        </p:nvSpPr>
        <p:spPr>
          <a:xfrm>
            <a:off x="6492240" y="307238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Personalised</a:t>
            </a:r>
            <a:endParaRPr lang="en-US" sz="1200" dirty="0"/>
          </a:p>
        </p:txBody>
      </p:sp>
      <p:sp>
        <p:nvSpPr>
          <p:cNvPr id="47" name="text-215"/>
          <p:cNvSpPr txBox="1"/>
          <p:nvPr/>
        </p:nvSpPr>
        <p:spPr>
          <a:xfrm>
            <a:off x="6492240" y="3337560"/>
            <a:ext cx="2148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Farmer: holding, water, crop, livestock, tenant; 9 languages with voice; crop playbook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7 department lenses, each with named units and lead times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Google foundation models, used honestly</a:t>
            </a:r>
            <a:endParaRPr lang="en-US" sz="2400" dirty="0"/>
          </a:p>
        </p:txBody>
      </p:sp>
      <p:sp>
        <p:nvSpPr>
          <p:cNvPr id="4" name="card-216"/>
          <p:cNvSpPr/>
          <p:nvPr/>
        </p:nvSpPr>
        <p:spPr>
          <a:xfrm>
            <a:off x="457200" y="1051560"/>
            <a:ext cx="4572000" cy="224028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217"/>
          <p:cNvSpPr txBox="1"/>
          <p:nvPr/>
        </p:nvSpPr>
        <p:spPr>
          <a:xfrm>
            <a:off x="594360" y="111556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TimesFM 3.0 + ONI covariate, BigQuery AI.FORECAST</a:t>
            </a:r>
            <a:endParaRPr lang="en-US" sz="1250" dirty="0"/>
          </a:p>
        </p:txBody>
      </p:sp>
      <p:sp>
        <p:nvSpPr>
          <p:cNvPr id="6" name="text-218"/>
          <p:cNvSpPr txBox="1"/>
          <p:nvPr/>
        </p:nvSpPr>
        <p:spPr>
          <a:xfrm>
            <a:off x="594360" y="1444752"/>
            <a:ext cx="4297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17-table BigQuery warehouse in asia-south1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749 district monthly rainfall series, 21-month horizon, ONI as future covariate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JJAS 2027 all-India: -8% (cropped-area-weighted -7.7%)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District-level hindcast ρ -0.06 to +0.26, RMSE no better than climatology: shown, not scored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Median forecast runs about 5-10 pp low; ONI after Jul 2026 is an assumption</a:t>
            </a:r>
            <a:endParaRPr lang="en-US" sz="1150" dirty="0"/>
          </a:p>
        </p:txBody>
      </p:sp>
      <p:sp>
        <p:nvSpPr>
          <p:cNvPr id="7" name="card-219"/>
          <p:cNvSpPr/>
          <p:nvPr/>
        </p:nvSpPr>
        <p:spPr>
          <a:xfrm>
            <a:off x="457200" y="3429000"/>
            <a:ext cx="4572000" cy="12801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-220"/>
          <p:cNvSpPr txBox="1"/>
          <p:nvPr/>
        </p:nvSpPr>
        <p:spPr>
          <a:xfrm>
            <a:off x="594360" y="349300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TabFM: evaluated, not used</a:t>
            </a:r>
            <a:endParaRPr lang="en-US" sz="1250" dirty="0"/>
          </a:p>
        </p:txBody>
      </p:sp>
      <p:sp>
        <p:nvSpPr>
          <p:cNvPr id="9" name="text-221"/>
          <p:cNvSpPr txBox="1"/>
          <p:nvPr/>
        </p:nvSpPr>
        <p:spPr>
          <a:xfrm>
            <a:off x="594360" y="3822192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6.6 GB weights; CPU inference over 8 min per fold, 22 folds exceed a 24 h budget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Next: BigQuery AI.PREDICT once generally available</a:t>
            </a:r>
            <a:endParaRPr lang="en-US" sz="1150" dirty="0"/>
          </a:p>
        </p:txBody>
      </p:sp>
      <p:pic>
        <p:nvPicPr>
          <p:cNvPr id="10" name="Image 0" descr="AnnaDrishti app screenshot: agree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051560"/>
            <a:ext cx="2651760" cy="2427559"/>
          </a:xfrm>
          <a:prstGeom prst="rect">
            <a:avLst/>
          </a:prstGeom>
        </p:spPr>
      </p:pic>
      <p:sp>
        <p:nvSpPr>
          <p:cNvPr id="11" name="frame-222"/>
          <p:cNvSpPr/>
          <p:nvPr/>
        </p:nvSpPr>
        <p:spPr>
          <a:xfrm>
            <a:off x="5486400" y="1051560"/>
            <a:ext cx="2651760" cy="2427559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text-223"/>
          <p:cNvSpPr txBox="1"/>
          <p:nvPr/>
        </p:nvSpPr>
        <p:spPr>
          <a:xfrm>
            <a:off x="5212080" y="3515695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In-app card (Pali, Kharif 2027): two methods agree, 12% lower harvest (range 12-13%); national TimesFM line below</a:t>
            </a:r>
            <a:endParaRPr lang="en-US" sz="950" dirty="0"/>
          </a:p>
        </p:txBody>
      </p:sp>
      <p:sp>
        <p:nvSpPr>
          <p:cNvPr id="13" name="card-224"/>
          <p:cNvSpPr/>
          <p:nvPr/>
        </p:nvSpPr>
        <p:spPr>
          <a:xfrm>
            <a:off x="5212080" y="3931920"/>
            <a:ext cx="1097280" cy="804672"/>
          </a:xfrm>
          <a:prstGeom prst="roundRect">
            <a:avLst>
              <a:gd name="adj" fmla="val 795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-225"/>
          <p:cNvSpPr txBox="1"/>
          <p:nvPr/>
        </p:nvSpPr>
        <p:spPr>
          <a:xfrm>
            <a:off x="5285232" y="3968496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749</a:t>
            </a:r>
            <a:endParaRPr lang="en-US" sz="1900" dirty="0"/>
          </a:p>
        </p:txBody>
      </p:sp>
      <p:sp>
        <p:nvSpPr>
          <p:cNvPr id="15" name="text-226"/>
          <p:cNvSpPr txBox="1"/>
          <p:nvPr/>
        </p:nvSpPr>
        <p:spPr>
          <a:xfrm>
            <a:off x="5285232" y="4334256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district rainfall series</a:t>
            </a:r>
            <a:endParaRPr lang="en-US" sz="950" dirty="0"/>
          </a:p>
        </p:txBody>
      </p:sp>
      <p:sp>
        <p:nvSpPr>
          <p:cNvPr id="16" name="card-227"/>
          <p:cNvSpPr/>
          <p:nvPr/>
        </p:nvSpPr>
        <p:spPr>
          <a:xfrm>
            <a:off x="6400800" y="3931920"/>
            <a:ext cx="1097280" cy="804672"/>
          </a:xfrm>
          <a:prstGeom prst="roundRect">
            <a:avLst>
              <a:gd name="adj" fmla="val 795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-228"/>
          <p:cNvSpPr txBox="1"/>
          <p:nvPr/>
        </p:nvSpPr>
        <p:spPr>
          <a:xfrm>
            <a:off x="6473952" y="3968496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-8%</a:t>
            </a:r>
            <a:endParaRPr lang="en-US" sz="1900" dirty="0"/>
          </a:p>
        </p:txBody>
      </p:sp>
      <p:sp>
        <p:nvSpPr>
          <p:cNvPr id="18" name="text-229"/>
          <p:cNvSpPr txBox="1"/>
          <p:nvPr/>
        </p:nvSpPr>
        <p:spPr>
          <a:xfrm>
            <a:off x="6473952" y="4334256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JJAS 2027, all-India</a:t>
            </a:r>
            <a:endParaRPr lang="en-US" sz="950" dirty="0"/>
          </a:p>
        </p:txBody>
      </p:sp>
      <p:sp>
        <p:nvSpPr>
          <p:cNvPr id="19" name="card-230"/>
          <p:cNvSpPr/>
          <p:nvPr/>
        </p:nvSpPr>
        <p:spPr>
          <a:xfrm>
            <a:off x="7589520" y="3931920"/>
            <a:ext cx="1097280" cy="804672"/>
          </a:xfrm>
          <a:prstGeom prst="roundRect">
            <a:avLst>
              <a:gd name="adj" fmla="val 795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-231"/>
          <p:cNvSpPr txBox="1"/>
          <p:nvPr/>
        </p:nvSpPr>
        <p:spPr>
          <a:xfrm>
            <a:off x="7662672" y="3968496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≈ 0</a:t>
            </a:r>
            <a:endParaRPr lang="en-US" sz="1900" dirty="0"/>
          </a:p>
        </p:txBody>
      </p:sp>
      <p:sp>
        <p:nvSpPr>
          <p:cNvPr id="21" name="text-232"/>
          <p:cNvSpPr txBox="1"/>
          <p:nvPr/>
        </p:nvSpPr>
        <p:spPr>
          <a:xfrm>
            <a:off x="7662672" y="4334256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district-level skill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From score to action: quantities, dates and owners</a:t>
            </a:r>
            <a:endParaRPr lang="en-US" sz="2400" dirty="0"/>
          </a:p>
        </p:txBody>
      </p:sp>
      <p:pic>
        <p:nvPicPr>
          <p:cNvPr id="4" name="Image 0" descr="AnnaDrishti app screenshot: plan0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3840480" cy="2880360"/>
          </a:xfrm>
          <a:prstGeom prst="rect">
            <a:avLst/>
          </a:prstGeom>
        </p:spPr>
      </p:pic>
      <p:sp>
        <p:nvSpPr>
          <p:cNvPr id="5" name="frame-233"/>
          <p:cNvSpPr/>
          <p:nvPr/>
        </p:nvSpPr>
        <p:spPr>
          <a:xfrm>
            <a:off x="457200" y="1097280"/>
            <a:ext cx="3840480" cy="28803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6" name="text-234"/>
          <p:cNvSpPr txBox="1"/>
          <p:nvPr/>
        </p:nvSpPr>
        <p:spPr>
          <a:xfrm>
            <a:off x="457200" y="405079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State planner, What to prepare (Kharif 2027, El Niño): totals, ranked table, CSV and Gemini state plan</a:t>
            </a:r>
            <a:endParaRPr lang="en-US" sz="1000" dirty="0"/>
          </a:p>
        </p:txBody>
      </p:sp>
      <p:sp>
        <p:nvSpPr>
          <p:cNvPr id="7" name="text-235"/>
          <p:cNvSpPr txBox="1"/>
          <p:nvPr/>
        </p:nvSpPr>
        <p:spPr>
          <a:xfrm>
            <a:off x="4480560" y="10515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Quantity (El Niño)</a:t>
            </a:r>
            <a:endParaRPr lang="en-US" sz="950" dirty="0"/>
          </a:p>
        </p:txBody>
      </p:sp>
      <p:sp>
        <p:nvSpPr>
          <p:cNvPr id="8" name="text-236"/>
          <p:cNvSpPr txBox="1"/>
          <p:nvPr/>
        </p:nvSpPr>
        <p:spPr>
          <a:xfrm>
            <a:off x="5760720" y="105156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Rabi</a:t>
            </a:r>
            <a:endParaRPr lang="en-US" sz="950" dirty="0"/>
          </a:p>
        </p:txBody>
      </p:sp>
      <p:sp>
        <p:nvSpPr>
          <p:cNvPr id="9" name="text-237"/>
          <p:cNvSpPr txBox="1"/>
          <p:nvPr/>
        </p:nvSpPr>
        <p:spPr>
          <a:xfrm>
            <a:off x="6446520" y="105156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Kharif</a:t>
            </a:r>
            <a:endParaRPr lang="en-US" sz="950" dirty="0"/>
          </a:p>
        </p:txBody>
      </p:sp>
      <p:sp>
        <p:nvSpPr>
          <p:cNvPr id="10" name="text-238"/>
          <p:cNvSpPr txBox="1"/>
          <p:nvPr/>
        </p:nvSpPr>
        <p:spPr>
          <a:xfrm>
            <a:off x="7178040" y="10515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Owner</a:t>
            </a:r>
            <a:endParaRPr lang="en-US" sz="950" dirty="0"/>
          </a:p>
        </p:txBody>
      </p:sp>
      <p:sp>
        <p:nvSpPr>
          <p:cNvPr id="11" name="card-239"/>
          <p:cNvSpPr/>
          <p:nvPr/>
        </p:nvSpPr>
        <p:spPr>
          <a:xfrm>
            <a:off x="4480560" y="1298448"/>
            <a:ext cx="4206240" cy="411480"/>
          </a:xfrm>
          <a:prstGeom prst="roundRect">
            <a:avLst>
              <a:gd name="adj" fmla="val 1555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text-240"/>
          <p:cNvSpPr txBox="1"/>
          <p:nvPr/>
        </p:nvSpPr>
        <p:spPr>
          <a:xfrm>
            <a:off x="4572000" y="131673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Grain to pre-position</a:t>
            </a:r>
            <a:endParaRPr lang="en-US" sz="1000" dirty="0"/>
          </a:p>
        </p:txBody>
      </p:sp>
      <p:sp>
        <p:nvSpPr>
          <p:cNvPr id="13" name="text-241"/>
          <p:cNvSpPr txBox="1"/>
          <p:nvPr/>
        </p:nvSpPr>
        <p:spPr>
          <a:xfrm>
            <a:off x="5760720" y="1316736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7.3 lakh t</a:t>
            </a:r>
            <a:endParaRPr lang="en-US" sz="1050" dirty="0"/>
          </a:p>
        </p:txBody>
      </p:sp>
      <p:sp>
        <p:nvSpPr>
          <p:cNvPr id="14" name="text-242"/>
          <p:cNvSpPr txBox="1"/>
          <p:nvPr/>
        </p:nvSpPr>
        <p:spPr>
          <a:xfrm>
            <a:off x="6446520" y="131673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51.6 lakh t</a:t>
            </a:r>
            <a:endParaRPr lang="en-US" sz="1050" dirty="0"/>
          </a:p>
        </p:txBody>
      </p:sp>
      <p:sp>
        <p:nvSpPr>
          <p:cNvPr id="15" name="text-243"/>
          <p:cNvSpPr txBox="1"/>
          <p:nvPr/>
        </p:nvSpPr>
        <p:spPr>
          <a:xfrm>
            <a:off x="7223760" y="129844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Food &amp; Civil Supplies</a:t>
            </a:r>
            <a:endParaRPr lang="en-US" sz="950" dirty="0"/>
          </a:p>
        </p:txBody>
      </p:sp>
      <p:sp>
        <p:nvSpPr>
          <p:cNvPr id="16" name="card-244"/>
          <p:cNvSpPr/>
          <p:nvPr/>
        </p:nvSpPr>
        <p:spPr>
          <a:xfrm>
            <a:off x="4480560" y="1755648"/>
            <a:ext cx="4206240" cy="411480"/>
          </a:xfrm>
          <a:prstGeom prst="roundRect">
            <a:avLst>
              <a:gd name="adj" fmla="val 1555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-245"/>
          <p:cNvSpPr txBox="1"/>
          <p:nvPr/>
        </p:nvSpPr>
        <p:spPr>
          <a:xfrm>
            <a:off x="4572000" y="177393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Pulses</a:t>
            </a:r>
            <a:endParaRPr lang="en-US" sz="1000" dirty="0"/>
          </a:p>
        </p:txBody>
      </p:sp>
      <p:sp>
        <p:nvSpPr>
          <p:cNvPr id="18" name="text-246"/>
          <p:cNvSpPr txBox="1"/>
          <p:nvPr/>
        </p:nvSpPr>
        <p:spPr>
          <a:xfrm>
            <a:off x="5760720" y="1773936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5.6 lakh t</a:t>
            </a:r>
            <a:endParaRPr lang="en-US" sz="1050" dirty="0"/>
          </a:p>
        </p:txBody>
      </p:sp>
      <p:sp>
        <p:nvSpPr>
          <p:cNvPr id="19" name="text-247"/>
          <p:cNvSpPr txBox="1"/>
          <p:nvPr/>
        </p:nvSpPr>
        <p:spPr>
          <a:xfrm>
            <a:off x="6446520" y="177393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19.0 lakh t</a:t>
            </a:r>
            <a:endParaRPr lang="en-US" sz="1050" dirty="0"/>
          </a:p>
        </p:txBody>
      </p:sp>
      <p:sp>
        <p:nvSpPr>
          <p:cNvPr id="20" name="text-248"/>
          <p:cNvSpPr txBox="1"/>
          <p:nvPr/>
        </p:nvSpPr>
        <p:spPr>
          <a:xfrm>
            <a:off x="7223760" y="175564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Food &amp; Civil Supplies</a:t>
            </a:r>
            <a:endParaRPr lang="en-US" sz="950" dirty="0"/>
          </a:p>
        </p:txBody>
      </p:sp>
      <p:sp>
        <p:nvSpPr>
          <p:cNvPr id="21" name="card-249"/>
          <p:cNvSpPr/>
          <p:nvPr/>
        </p:nvSpPr>
        <p:spPr>
          <a:xfrm>
            <a:off x="4480560" y="2212848"/>
            <a:ext cx="4206240" cy="411480"/>
          </a:xfrm>
          <a:prstGeom prst="roundRect">
            <a:avLst>
              <a:gd name="adj" fmla="val 1555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2" name="text-250"/>
          <p:cNvSpPr txBox="1"/>
          <p:nvPr/>
        </p:nvSpPr>
        <p:spPr>
          <a:xfrm>
            <a:off x="4572000" y="223113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Anganwadi children</a:t>
            </a:r>
            <a:endParaRPr lang="en-US" sz="1000" dirty="0"/>
          </a:p>
        </p:txBody>
      </p:sp>
      <p:sp>
        <p:nvSpPr>
          <p:cNvPr id="23" name="text-251"/>
          <p:cNvSpPr txBox="1"/>
          <p:nvPr/>
        </p:nvSpPr>
        <p:spPr>
          <a:xfrm>
            <a:off x="5760720" y="2231136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3.3 cr</a:t>
            </a:r>
            <a:endParaRPr lang="en-US" sz="1050" dirty="0"/>
          </a:p>
        </p:txBody>
      </p:sp>
      <p:sp>
        <p:nvSpPr>
          <p:cNvPr id="24" name="text-252"/>
          <p:cNvSpPr txBox="1"/>
          <p:nvPr/>
        </p:nvSpPr>
        <p:spPr>
          <a:xfrm>
            <a:off x="6446520" y="223113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3.4 cr</a:t>
            </a:r>
            <a:endParaRPr lang="en-US" sz="1050" dirty="0"/>
          </a:p>
        </p:txBody>
      </p:sp>
      <p:sp>
        <p:nvSpPr>
          <p:cNvPr id="25" name="text-253"/>
          <p:cNvSpPr txBox="1"/>
          <p:nvPr/>
        </p:nvSpPr>
        <p:spPr>
          <a:xfrm>
            <a:off x="7223760" y="221284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WCD / ICDS</a:t>
            </a:r>
            <a:endParaRPr lang="en-US" sz="950" dirty="0"/>
          </a:p>
        </p:txBody>
      </p:sp>
      <p:sp>
        <p:nvSpPr>
          <p:cNvPr id="26" name="card-254"/>
          <p:cNvSpPr/>
          <p:nvPr/>
        </p:nvSpPr>
        <p:spPr>
          <a:xfrm>
            <a:off x="4480560" y="2670048"/>
            <a:ext cx="4206240" cy="411480"/>
          </a:xfrm>
          <a:prstGeom prst="roundRect">
            <a:avLst>
              <a:gd name="adj" fmla="val 1555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7" name="text-255"/>
          <p:cNvSpPr txBox="1"/>
          <p:nvPr/>
        </p:nvSpPr>
        <p:spPr>
          <a:xfrm>
            <a:off x="4572000" y="268833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Seed bank</a:t>
            </a:r>
            <a:endParaRPr lang="en-US" sz="1000" dirty="0"/>
          </a:p>
        </p:txBody>
      </p:sp>
      <p:sp>
        <p:nvSpPr>
          <p:cNvPr id="28" name="text-256"/>
          <p:cNvSpPr txBox="1"/>
          <p:nvPr/>
        </p:nvSpPr>
        <p:spPr>
          <a:xfrm>
            <a:off x="5760720" y="2688336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0.6 cr ha</a:t>
            </a:r>
            <a:endParaRPr lang="en-US" sz="1050" dirty="0"/>
          </a:p>
        </p:txBody>
      </p:sp>
      <p:sp>
        <p:nvSpPr>
          <p:cNvPr id="29" name="text-257"/>
          <p:cNvSpPr txBox="1"/>
          <p:nvPr/>
        </p:nvSpPr>
        <p:spPr>
          <a:xfrm>
            <a:off x="6446520" y="268833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1.3 cr ha</a:t>
            </a:r>
            <a:endParaRPr lang="en-US" sz="1050" dirty="0"/>
          </a:p>
        </p:txBody>
      </p:sp>
      <p:sp>
        <p:nvSpPr>
          <p:cNvPr id="30" name="text-258"/>
          <p:cNvSpPr txBox="1"/>
          <p:nvPr/>
        </p:nvSpPr>
        <p:spPr>
          <a:xfrm>
            <a:off x="7223760" y="267004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Agriculture</a:t>
            </a:r>
            <a:endParaRPr lang="en-US" sz="950" dirty="0"/>
          </a:p>
        </p:txBody>
      </p:sp>
      <p:sp>
        <p:nvSpPr>
          <p:cNvPr id="31" name="card-259"/>
          <p:cNvSpPr/>
          <p:nvPr/>
        </p:nvSpPr>
        <p:spPr>
          <a:xfrm>
            <a:off x="4480560" y="3127248"/>
            <a:ext cx="4206240" cy="411480"/>
          </a:xfrm>
          <a:prstGeom prst="roundRect">
            <a:avLst>
              <a:gd name="adj" fmla="val 1555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2" name="text-260"/>
          <p:cNvSpPr txBox="1"/>
          <p:nvPr/>
        </p:nvSpPr>
        <p:spPr>
          <a:xfrm>
            <a:off x="4572000" y="314553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MGNREGA person-days</a:t>
            </a:r>
            <a:endParaRPr lang="en-US" sz="1000" dirty="0"/>
          </a:p>
        </p:txBody>
      </p:sp>
      <p:sp>
        <p:nvSpPr>
          <p:cNvPr id="33" name="text-261"/>
          <p:cNvSpPr txBox="1"/>
          <p:nvPr/>
        </p:nvSpPr>
        <p:spPr>
          <a:xfrm>
            <a:off x="5760720" y="3145536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218.5 cr</a:t>
            </a:r>
            <a:endParaRPr lang="en-US" sz="1050" dirty="0"/>
          </a:p>
        </p:txBody>
      </p:sp>
      <p:sp>
        <p:nvSpPr>
          <p:cNvPr id="34" name="text-262"/>
          <p:cNvSpPr txBox="1"/>
          <p:nvPr/>
        </p:nvSpPr>
        <p:spPr>
          <a:xfrm>
            <a:off x="6446520" y="314553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320.4 cr</a:t>
            </a:r>
            <a:endParaRPr lang="en-US" sz="1050" dirty="0"/>
          </a:p>
        </p:txBody>
      </p:sp>
      <p:sp>
        <p:nvSpPr>
          <p:cNvPr id="35" name="text-263"/>
          <p:cNvSpPr txBox="1"/>
          <p:nvPr/>
        </p:nvSpPr>
        <p:spPr>
          <a:xfrm>
            <a:off x="7223760" y="312724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Rural Development</a:t>
            </a:r>
            <a:endParaRPr lang="en-US" sz="950" dirty="0"/>
          </a:p>
        </p:txBody>
      </p:sp>
      <p:sp>
        <p:nvSpPr>
          <p:cNvPr id="36" name="card-264"/>
          <p:cNvSpPr/>
          <p:nvPr/>
        </p:nvSpPr>
        <p:spPr>
          <a:xfrm>
            <a:off x="4480560" y="3584448"/>
            <a:ext cx="4206240" cy="411480"/>
          </a:xfrm>
          <a:prstGeom prst="roundRect">
            <a:avLst>
              <a:gd name="adj" fmla="val 1555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7" name="text-265"/>
          <p:cNvSpPr txBox="1"/>
          <p:nvPr/>
        </p:nvSpPr>
        <p:spPr>
          <a:xfrm>
            <a:off x="4572000" y="360273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PMFBY coverage gap</a:t>
            </a:r>
            <a:endParaRPr lang="en-US" sz="1000" dirty="0"/>
          </a:p>
        </p:txBody>
      </p:sp>
      <p:sp>
        <p:nvSpPr>
          <p:cNvPr id="38" name="text-266"/>
          <p:cNvSpPr txBox="1"/>
          <p:nvPr/>
        </p:nvSpPr>
        <p:spPr>
          <a:xfrm>
            <a:off x="5760720" y="3602736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10.0 cr</a:t>
            </a:r>
            <a:endParaRPr lang="en-US" sz="1050" dirty="0"/>
          </a:p>
        </p:txBody>
      </p:sp>
      <p:sp>
        <p:nvSpPr>
          <p:cNvPr id="39" name="text-267"/>
          <p:cNvSpPr txBox="1"/>
          <p:nvPr/>
        </p:nvSpPr>
        <p:spPr>
          <a:xfrm>
            <a:off x="6446520" y="360273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10.1 cr</a:t>
            </a:r>
            <a:endParaRPr lang="en-US" sz="1050" dirty="0"/>
          </a:p>
        </p:txBody>
      </p:sp>
      <p:sp>
        <p:nvSpPr>
          <p:cNvPr id="40" name="text-268"/>
          <p:cNvSpPr txBox="1"/>
          <p:nvPr/>
        </p:nvSpPr>
        <p:spPr>
          <a:xfrm>
            <a:off x="7223760" y="358444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Agriculture</a:t>
            </a:r>
            <a:endParaRPr lang="en-US" sz="950" dirty="0"/>
          </a:p>
        </p:txBody>
      </p:sp>
      <p:sp>
        <p:nvSpPr>
          <p:cNvPr id="41" name="text-269"/>
          <p:cNvSpPr txBox="1"/>
          <p:nvPr/>
        </p:nvSpPr>
        <p:spPr>
          <a:xfrm>
            <a:off x="4480560" y="408736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Grain and pulses: extra stock vs a neutral year via PDS / OMSS. Anganwadi: children under 5 × stunting rate. Seed bank: short-duration / millet seed. MGNREGA: work demand. PMFBY: farmers not insured. Health owns the women's anaemia target (21.2 cr rabi).</a:t>
            </a:r>
            <a:endParaRPr lang="en-US" sz="950" dirty="0"/>
          </a:p>
        </p:txBody>
      </p:sp>
      <p:sp>
        <p:nvSpPr>
          <p:cNvPr id="42" name="card-270"/>
          <p:cNvSpPr/>
          <p:nvPr/>
        </p:nvSpPr>
        <p:spPr>
          <a:xfrm>
            <a:off x="457200" y="4389120"/>
            <a:ext cx="1920240" cy="365760"/>
          </a:xfrm>
          <a:prstGeom prst="roundRect">
            <a:avLst>
              <a:gd name="adj" fmla="val 17500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3" name="text-271"/>
          <p:cNvSpPr txBox="1"/>
          <p:nvPr/>
        </p:nvSpPr>
        <p:spPr>
          <a:xfrm>
            <a:off x="457200" y="4389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Rabi: by 15 Nov 2026</a:t>
            </a:r>
            <a:endParaRPr lang="en-US" sz="1150" dirty="0"/>
          </a:p>
        </p:txBody>
      </p:sp>
      <p:sp>
        <p:nvSpPr>
          <p:cNvPr id="44" name="card-272"/>
          <p:cNvSpPr/>
          <p:nvPr/>
        </p:nvSpPr>
        <p:spPr>
          <a:xfrm>
            <a:off x="2468880" y="4389120"/>
            <a:ext cx="1828800" cy="365760"/>
          </a:xfrm>
          <a:prstGeom prst="roundRect">
            <a:avLst>
              <a:gd name="adj" fmla="val 17500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5" name="text-273"/>
          <p:cNvSpPr txBox="1"/>
          <p:nvPr/>
        </p:nvSpPr>
        <p:spPr>
          <a:xfrm>
            <a:off x="2468880" y="4389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Kharif: by 15 May 2027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Architecture: pipeline, BigQuery, Cloud Run, Gemini</a:t>
            </a:r>
            <a:endParaRPr lang="en-US" sz="2400" dirty="0"/>
          </a:p>
        </p:txBody>
      </p:sp>
      <p:sp>
        <p:nvSpPr>
          <p:cNvPr id="4" name="card-274"/>
          <p:cNvSpPr/>
          <p:nvPr/>
        </p:nvSpPr>
        <p:spPr>
          <a:xfrm>
            <a:off x="457200" y="1097280"/>
            <a:ext cx="1243584" cy="1371600"/>
          </a:xfrm>
          <a:prstGeom prst="roundRect">
            <a:avLst>
              <a:gd name="adj" fmla="val 514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275"/>
          <p:cNvSpPr txBox="1"/>
          <p:nvPr/>
        </p:nvSpPr>
        <p:spPr>
          <a:xfrm>
            <a:off x="530352" y="116128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Data + Earth Engine</a:t>
            </a:r>
            <a:endParaRPr lang="en-US" sz="1100" dirty="0"/>
          </a:p>
        </p:txBody>
      </p:sp>
      <p:sp>
        <p:nvSpPr>
          <p:cNvPr id="6" name="text-276"/>
          <p:cNvSpPr txBox="1"/>
          <p:nvPr/>
        </p:nvSpPr>
        <p:spPr>
          <a:xfrm>
            <a:off x="530352" y="155448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IMD, DES, NFHS, Census, FCI, Poshan, CGWB; Earth Engine; WeatherNext 2</a:t>
            </a:r>
            <a:endParaRPr lang="en-US" sz="1000" dirty="0"/>
          </a:p>
        </p:txBody>
      </p:sp>
      <p:sp>
        <p:nvSpPr>
          <p:cNvPr id="7" name="card-277"/>
          <p:cNvSpPr/>
          <p:nvPr/>
        </p:nvSpPr>
        <p:spPr>
          <a:xfrm>
            <a:off x="1856232" y="1097280"/>
            <a:ext cx="1243584" cy="1371600"/>
          </a:xfrm>
          <a:prstGeom prst="roundRect">
            <a:avLst>
              <a:gd name="adj" fmla="val 514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-278"/>
          <p:cNvSpPr txBox="1"/>
          <p:nvPr/>
        </p:nvSpPr>
        <p:spPr>
          <a:xfrm>
            <a:off x="1929384" y="116128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Python pipeline</a:t>
            </a:r>
            <a:endParaRPr lang="en-US" sz="1100" dirty="0"/>
          </a:p>
        </p:txBody>
      </p:sp>
      <p:sp>
        <p:nvSpPr>
          <p:cNvPr id="9" name="text-279"/>
          <p:cNvSpPr txBox="1"/>
          <p:nvPr/>
        </p:nvSpPr>
        <p:spPr>
          <a:xfrm>
            <a:off x="1929384" y="155448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00 boundaries … 03b extras → 04b LightGBM → 04 risk → 06 export</a:t>
            </a:r>
            <a:endParaRPr lang="en-US" sz="1000" dirty="0"/>
          </a:p>
        </p:txBody>
      </p:sp>
      <p:sp>
        <p:nvSpPr>
          <p:cNvPr id="10" name="card-280"/>
          <p:cNvSpPr/>
          <p:nvPr/>
        </p:nvSpPr>
        <p:spPr>
          <a:xfrm>
            <a:off x="3255264" y="1097280"/>
            <a:ext cx="1243584" cy="1371600"/>
          </a:xfrm>
          <a:prstGeom prst="roundRect">
            <a:avLst>
              <a:gd name="adj" fmla="val 5147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1" name="text-281"/>
          <p:cNvSpPr txBox="1"/>
          <p:nvPr/>
        </p:nvSpPr>
        <p:spPr>
          <a:xfrm>
            <a:off x="3328416" y="116128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BigQuery</a:t>
            </a:r>
            <a:endParaRPr lang="en-US" sz="1100" dirty="0"/>
          </a:p>
        </p:txBody>
      </p:sp>
      <p:sp>
        <p:nvSpPr>
          <p:cNvPr id="12" name="text-282"/>
          <p:cNvSpPr txBox="1"/>
          <p:nvPr/>
        </p:nvSpPr>
        <p:spPr>
          <a:xfrm>
            <a:off x="3328416" y="155448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17-table warehouse; AI.FORECAST (TimesFM 3.0), asia-south1</a:t>
            </a:r>
            <a:endParaRPr lang="en-US" sz="1000" dirty="0"/>
          </a:p>
        </p:txBody>
      </p:sp>
      <p:sp>
        <p:nvSpPr>
          <p:cNvPr id="13" name="card-283"/>
          <p:cNvSpPr/>
          <p:nvPr/>
        </p:nvSpPr>
        <p:spPr>
          <a:xfrm>
            <a:off x="4654296" y="1097280"/>
            <a:ext cx="1243584" cy="1371600"/>
          </a:xfrm>
          <a:prstGeom prst="roundRect">
            <a:avLst>
              <a:gd name="adj" fmla="val 514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-284"/>
          <p:cNvSpPr txBox="1"/>
          <p:nvPr/>
        </p:nvSpPr>
        <p:spPr>
          <a:xfrm>
            <a:off x="4727448" y="116128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Cloud Storage</a:t>
            </a:r>
            <a:endParaRPr lang="en-US" sz="1100" dirty="0"/>
          </a:p>
        </p:txBody>
      </p:sp>
      <p:sp>
        <p:nvSpPr>
          <p:cNvPr id="15" name="text-285"/>
          <p:cNvSpPr txBox="1"/>
          <p:nvPr/>
        </p:nvSpPr>
        <p:spPr>
          <a:xfrm>
            <a:off x="4727448" y="155448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artifact JSON, optional; else baked into image</a:t>
            </a:r>
            <a:endParaRPr lang="en-US" sz="1000" dirty="0"/>
          </a:p>
        </p:txBody>
      </p:sp>
      <p:sp>
        <p:nvSpPr>
          <p:cNvPr id="16" name="card-286"/>
          <p:cNvSpPr/>
          <p:nvPr/>
        </p:nvSpPr>
        <p:spPr>
          <a:xfrm>
            <a:off x="6053328" y="1097280"/>
            <a:ext cx="1243584" cy="2514600"/>
          </a:xfrm>
          <a:prstGeom prst="roundRect">
            <a:avLst>
              <a:gd name="adj" fmla="val 5147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7" name="text-287"/>
          <p:cNvSpPr txBox="1"/>
          <p:nvPr/>
        </p:nvSpPr>
        <p:spPr>
          <a:xfrm>
            <a:off x="6126480" y="116128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Cloud Run</a:t>
            </a:r>
            <a:endParaRPr lang="en-US" sz="1100" dirty="0"/>
          </a:p>
        </p:txBody>
      </p:sp>
      <p:sp>
        <p:nvSpPr>
          <p:cNvPr id="18" name="text-288"/>
          <p:cNvSpPr txBox="1"/>
          <p:nvPr/>
        </p:nvSpPr>
        <p:spPr>
          <a:xfrm>
            <a:off x="6126480" y="1554480"/>
            <a:ext cx="1097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annadrishti, asia-south1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FastAPI /api + Material 3 web app, role-based (farmer, officer, planner)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min-instances 0</a:t>
            </a:r>
            <a:endParaRPr lang="en-US" sz="1000" dirty="0"/>
          </a:p>
        </p:txBody>
      </p:sp>
      <p:sp>
        <p:nvSpPr>
          <p:cNvPr id="19" name="card-289"/>
          <p:cNvSpPr/>
          <p:nvPr/>
        </p:nvSpPr>
        <p:spPr>
          <a:xfrm>
            <a:off x="7452360" y="1097280"/>
            <a:ext cx="1243584" cy="1371600"/>
          </a:xfrm>
          <a:prstGeom prst="roundRect">
            <a:avLst>
              <a:gd name="adj" fmla="val 514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-290"/>
          <p:cNvSpPr txBox="1"/>
          <p:nvPr/>
        </p:nvSpPr>
        <p:spPr>
          <a:xfrm>
            <a:off x="7525512" y="116128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Users</a:t>
            </a:r>
            <a:endParaRPr lang="en-US" sz="1100" dirty="0"/>
          </a:p>
        </p:txBody>
      </p:sp>
      <p:sp>
        <p:nvSpPr>
          <p:cNvPr id="21" name="text-291"/>
          <p:cNvSpPr txBox="1"/>
          <p:nvPr/>
        </p:nvSpPr>
        <p:spPr>
          <a:xfrm>
            <a:off x="7525512" y="155448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State depts, collectors, FPOs, field teams</a:t>
            </a:r>
            <a:endParaRPr lang="en-US" sz="1000" dirty="0"/>
          </a:p>
        </p:txBody>
      </p:sp>
      <p:sp>
        <p:nvSpPr>
          <p:cNvPr id="22" name="card-292"/>
          <p:cNvSpPr/>
          <p:nvPr/>
        </p:nvSpPr>
        <p:spPr>
          <a:xfrm>
            <a:off x="7452360" y="2651760"/>
            <a:ext cx="1243584" cy="9601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3" name="text-293"/>
          <p:cNvSpPr txBox="1"/>
          <p:nvPr/>
        </p:nvSpPr>
        <p:spPr>
          <a:xfrm>
            <a:off x="7525512" y="271576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Gemini API</a:t>
            </a:r>
            <a:endParaRPr lang="en-US" sz="1100" dirty="0"/>
          </a:p>
        </p:txBody>
      </p:sp>
      <p:sp>
        <p:nvSpPr>
          <p:cNvPr id="24" name="text-294"/>
          <p:cNvSpPr txBox="1"/>
          <p:nvPr/>
        </p:nvSpPr>
        <p:spPr>
          <a:xfrm>
            <a:off x="7525512" y="31089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2.5 Flash + TTS</a:t>
            </a:r>
            <a:endParaRPr lang="en-US" sz="1000" dirty="0"/>
          </a:p>
        </p:txBody>
      </p:sp>
      <p:sp>
        <p:nvSpPr>
          <p:cNvPr id="25" name="card-295"/>
          <p:cNvSpPr/>
          <p:nvPr/>
        </p:nvSpPr>
        <p:spPr>
          <a:xfrm>
            <a:off x="4654296" y="2651760"/>
            <a:ext cx="1243584" cy="9601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6" name="text-296"/>
          <p:cNvSpPr txBox="1"/>
          <p:nvPr/>
        </p:nvSpPr>
        <p:spPr>
          <a:xfrm>
            <a:off x="4727448" y="271576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Secret Manager</a:t>
            </a:r>
            <a:endParaRPr lang="en-US" sz="1100" dirty="0"/>
          </a:p>
        </p:txBody>
      </p:sp>
      <p:sp>
        <p:nvSpPr>
          <p:cNvPr id="27" name="text-297"/>
          <p:cNvSpPr txBox="1"/>
          <p:nvPr/>
        </p:nvSpPr>
        <p:spPr>
          <a:xfrm>
            <a:off x="4727448" y="31089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GEMINI_API_KEY</a:t>
            </a:r>
            <a:endParaRPr lang="en-US" sz="1000" dirty="0"/>
          </a:p>
        </p:txBody>
      </p:sp>
      <p:sp>
        <p:nvSpPr>
          <p:cNvPr id="28" name="card-298"/>
          <p:cNvSpPr/>
          <p:nvPr/>
        </p:nvSpPr>
        <p:spPr>
          <a:xfrm>
            <a:off x="1856232" y="2651760"/>
            <a:ext cx="1243584" cy="9601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9" name="text-299"/>
          <p:cNvSpPr txBox="1"/>
          <p:nvPr/>
        </p:nvSpPr>
        <p:spPr>
          <a:xfrm>
            <a:off x="1929384" y="271576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Cloud Scheduler</a:t>
            </a:r>
            <a:endParaRPr lang="en-US" sz="1100" dirty="0"/>
          </a:p>
        </p:txBody>
      </p:sp>
      <p:sp>
        <p:nvSpPr>
          <p:cNvPr id="30" name="text-300"/>
          <p:cNvSpPr txBox="1"/>
          <p:nvPr/>
        </p:nvSpPr>
        <p:spPr>
          <a:xfrm>
            <a:off x="1929384" y="31089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daily refresh (planned)</a:t>
            </a:r>
            <a:endParaRPr lang="en-US" sz="1000" dirty="0"/>
          </a:p>
        </p:txBody>
      </p:sp>
      <p:sp>
        <p:nvSpPr>
          <p:cNvPr id="31" name="card-301"/>
          <p:cNvSpPr/>
          <p:nvPr/>
        </p:nvSpPr>
        <p:spPr>
          <a:xfrm>
            <a:off x="4654296" y="3886200"/>
            <a:ext cx="1243584" cy="777240"/>
          </a:xfrm>
          <a:prstGeom prst="roundRect">
            <a:avLst>
              <a:gd name="adj" fmla="val 823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2" name="text-302"/>
          <p:cNvSpPr txBox="1"/>
          <p:nvPr/>
        </p:nvSpPr>
        <p:spPr>
          <a:xfrm>
            <a:off x="4727448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Cloud Build</a:t>
            </a:r>
            <a:endParaRPr lang="en-US" sz="1100" dirty="0"/>
          </a:p>
        </p:txBody>
      </p:sp>
      <p:sp>
        <p:nvSpPr>
          <p:cNvPr id="33" name="text-303"/>
          <p:cNvSpPr txBox="1"/>
          <p:nvPr/>
        </p:nvSpPr>
        <p:spPr>
          <a:xfrm>
            <a:off x="4727448" y="43434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builds container</a:t>
            </a:r>
            <a:endParaRPr lang="en-US" sz="1000" dirty="0"/>
          </a:p>
        </p:txBody>
      </p:sp>
      <p:sp>
        <p:nvSpPr>
          <p:cNvPr id="34" name="card-304"/>
          <p:cNvSpPr/>
          <p:nvPr/>
        </p:nvSpPr>
        <p:spPr>
          <a:xfrm>
            <a:off x="6053328" y="3886200"/>
            <a:ext cx="1243584" cy="777240"/>
          </a:xfrm>
          <a:prstGeom prst="roundRect">
            <a:avLst>
              <a:gd name="adj" fmla="val 823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5" name="text-305"/>
          <p:cNvSpPr txBox="1"/>
          <p:nvPr/>
        </p:nvSpPr>
        <p:spPr>
          <a:xfrm>
            <a:off x="612648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Artifact Registry</a:t>
            </a:r>
            <a:endParaRPr lang="en-US" sz="1100" dirty="0"/>
          </a:p>
        </p:txBody>
      </p:sp>
      <p:sp>
        <p:nvSpPr>
          <p:cNvPr id="36" name="text-306"/>
          <p:cNvSpPr txBox="1"/>
          <p:nvPr/>
        </p:nvSpPr>
        <p:spPr>
          <a:xfrm>
            <a:off x="6126480" y="43434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image repo</a:t>
            </a:r>
            <a:endParaRPr lang="en-US" sz="1000" dirty="0"/>
          </a:p>
        </p:txBody>
      </p:sp>
      <p:sp>
        <p:nvSpPr>
          <p:cNvPr id="37" name="text-307"/>
          <p:cNvSpPr txBox="1"/>
          <p:nvPr/>
        </p:nvSpPr>
        <p:spPr>
          <a:xfrm>
            <a:off x="457200" y="466344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Deployed: Cloud Run asia-south1 · image in Artifact Registry · Gemini key in Secret Manager · artifacts synced from Cloud Storage</a:t>
            </a:r>
            <a:endParaRPr lang="en-US" sz="950" dirty="0"/>
          </a:p>
        </p:txBody>
      </p:sp>
      <p:sp>
        <p:nvSpPr>
          <p:cNvPr id="38" name="arrow-308"/>
          <p:cNvSpPr/>
          <p:nvPr/>
        </p:nvSpPr>
        <p:spPr>
          <a:xfrm>
            <a:off x="1700784" y="1783080"/>
            <a:ext cx="155448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9" name="arrow-309"/>
          <p:cNvSpPr/>
          <p:nvPr/>
        </p:nvSpPr>
        <p:spPr>
          <a:xfrm>
            <a:off x="3099816" y="1783080"/>
            <a:ext cx="155448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0" name="arrow-310"/>
          <p:cNvSpPr/>
          <p:nvPr/>
        </p:nvSpPr>
        <p:spPr>
          <a:xfrm>
            <a:off x="4498848" y="1783080"/>
            <a:ext cx="155448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1" name="arrow-311"/>
          <p:cNvSpPr/>
          <p:nvPr/>
        </p:nvSpPr>
        <p:spPr>
          <a:xfrm>
            <a:off x="5897880" y="1783080"/>
            <a:ext cx="155448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2" name="arrow-312"/>
          <p:cNvSpPr/>
          <p:nvPr/>
        </p:nvSpPr>
        <p:spPr>
          <a:xfrm>
            <a:off x="7296912" y="1783080"/>
            <a:ext cx="155448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3" name="arrow-313"/>
          <p:cNvSpPr/>
          <p:nvPr/>
        </p:nvSpPr>
        <p:spPr>
          <a:xfrm flipH="1">
            <a:off x="7296912" y="3108960"/>
            <a:ext cx="155448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4" name="arrow-314"/>
          <p:cNvSpPr/>
          <p:nvPr/>
        </p:nvSpPr>
        <p:spPr>
          <a:xfrm>
            <a:off x="7296912" y="3383280"/>
            <a:ext cx="155448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5" name="arrow-315"/>
          <p:cNvSpPr/>
          <p:nvPr/>
        </p:nvSpPr>
        <p:spPr>
          <a:xfrm>
            <a:off x="5897880" y="3127248"/>
            <a:ext cx="155448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6" name="arrow-316"/>
          <p:cNvSpPr/>
          <p:nvPr/>
        </p:nvSpPr>
        <p:spPr>
          <a:xfrm flipV="1">
            <a:off x="2478024" y="2468880"/>
            <a:ext cx="0" cy="18288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7" name="arrow-317"/>
          <p:cNvSpPr/>
          <p:nvPr/>
        </p:nvSpPr>
        <p:spPr>
          <a:xfrm>
            <a:off x="5897880" y="4270248"/>
            <a:ext cx="155448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8" name="arrow-318"/>
          <p:cNvSpPr/>
          <p:nvPr/>
        </p:nvSpPr>
        <p:spPr>
          <a:xfrm flipV="1">
            <a:off x="6675120" y="3611880"/>
            <a:ext cx="0" cy="27432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Impact: a season of lead time for the people who act</a:t>
            </a:r>
            <a:endParaRPr lang="en-US" sz="2400" dirty="0"/>
          </a:p>
        </p:txBody>
      </p:sp>
      <p:sp>
        <p:nvSpPr>
          <p:cNvPr id="4" name="card-319"/>
          <p:cNvSpPr/>
          <p:nvPr/>
        </p:nvSpPr>
        <p:spPr>
          <a:xfrm>
            <a:off x="457200" y="1097280"/>
            <a:ext cx="4754880" cy="548640"/>
          </a:xfrm>
          <a:prstGeom prst="roundRect">
            <a:avLst>
              <a:gd name="adj" fmla="val 11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320"/>
          <p:cNvSpPr txBox="1"/>
          <p:nvPr/>
        </p:nvSpPr>
        <p:spPr>
          <a:xfrm>
            <a:off x="594360" y="113385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State Food &amp; Civil Supplies</a:t>
            </a:r>
            <a:endParaRPr lang="en-US" sz="1150" dirty="0"/>
          </a:p>
        </p:txBody>
      </p:sp>
      <p:sp>
        <p:nvSpPr>
          <p:cNvPr id="6" name="text-321"/>
          <p:cNvSpPr txBox="1"/>
          <p:nvPr/>
        </p:nvSpPr>
        <p:spPr>
          <a:xfrm>
            <a:off x="2468880" y="1133856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where to pre-position grain and pulses (PDS / OMSS)</a:t>
            </a:r>
            <a:endParaRPr lang="en-US" sz="1050" dirty="0"/>
          </a:p>
        </p:txBody>
      </p:sp>
      <p:sp>
        <p:nvSpPr>
          <p:cNvPr id="7" name="card-322"/>
          <p:cNvSpPr/>
          <p:nvPr/>
        </p:nvSpPr>
        <p:spPr>
          <a:xfrm>
            <a:off x="457200" y="1700784"/>
            <a:ext cx="4754880" cy="548640"/>
          </a:xfrm>
          <a:prstGeom prst="roundRect">
            <a:avLst>
              <a:gd name="adj" fmla="val 11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-323"/>
          <p:cNvSpPr txBox="1"/>
          <p:nvPr/>
        </p:nvSpPr>
        <p:spPr>
          <a:xfrm>
            <a:off x="594360" y="173736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Agriculture departments</a:t>
            </a:r>
            <a:endParaRPr lang="en-US" sz="1150" dirty="0"/>
          </a:p>
        </p:txBody>
      </p:sp>
      <p:sp>
        <p:nvSpPr>
          <p:cNvPr id="9" name="text-324"/>
          <p:cNvSpPr txBox="1"/>
          <p:nvPr/>
        </p:nvSpPr>
        <p:spPr>
          <a:xfrm>
            <a:off x="2468880" y="1737360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seed banks, short-duration / millet seed, PMFBY enrolment</a:t>
            </a:r>
            <a:endParaRPr lang="en-US" sz="1050" dirty="0"/>
          </a:p>
        </p:txBody>
      </p:sp>
      <p:sp>
        <p:nvSpPr>
          <p:cNvPr id="10" name="card-325"/>
          <p:cNvSpPr/>
          <p:nvPr/>
        </p:nvSpPr>
        <p:spPr>
          <a:xfrm>
            <a:off x="457200" y="2304288"/>
            <a:ext cx="4754880" cy="548640"/>
          </a:xfrm>
          <a:prstGeom prst="roundRect">
            <a:avLst>
              <a:gd name="adj" fmla="val 11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-326"/>
          <p:cNvSpPr txBox="1"/>
          <p:nvPr/>
        </p:nvSpPr>
        <p:spPr>
          <a:xfrm>
            <a:off x="594360" y="2340864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WCD / ICDS</a:t>
            </a:r>
            <a:endParaRPr lang="en-US" sz="1150" dirty="0"/>
          </a:p>
        </p:txBody>
      </p:sp>
      <p:sp>
        <p:nvSpPr>
          <p:cNvPr id="12" name="text-327"/>
          <p:cNvSpPr txBox="1"/>
          <p:nvPr/>
        </p:nvSpPr>
        <p:spPr>
          <a:xfrm>
            <a:off x="2468880" y="2340864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anganwadi supplementary-nutrition top-ups</a:t>
            </a:r>
            <a:endParaRPr lang="en-US" sz="1050" dirty="0"/>
          </a:p>
        </p:txBody>
      </p:sp>
      <p:sp>
        <p:nvSpPr>
          <p:cNvPr id="13" name="card-328"/>
          <p:cNvSpPr/>
          <p:nvPr/>
        </p:nvSpPr>
        <p:spPr>
          <a:xfrm>
            <a:off x="457200" y="2907792"/>
            <a:ext cx="4754880" cy="548640"/>
          </a:xfrm>
          <a:prstGeom prst="roundRect">
            <a:avLst>
              <a:gd name="adj" fmla="val 11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-329"/>
          <p:cNvSpPr txBox="1"/>
          <p:nvPr/>
        </p:nvSpPr>
        <p:spPr>
          <a:xfrm>
            <a:off x="594360" y="2944368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District collectors</a:t>
            </a:r>
            <a:endParaRPr lang="en-US" sz="1150" dirty="0"/>
          </a:p>
        </p:txBody>
      </p:sp>
      <p:sp>
        <p:nvSpPr>
          <p:cNvPr id="15" name="text-330"/>
          <p:cNvSpPr txBox="1"/>
          <p:nvPr/>
        </p:nvSpPr>
        <p:spPr>
          <a:xfrm>
            <a:off x="2468880" y="294436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one ranked list with drivers; MGNREGA planning</a:t>
            </a:r>
            <a:endParaRPr lang="en-US" sz="1050" dirty="0"/>
          </a:p>
        </p:txBody>
      </p:sp>
      <p:sp>
        <p:nvSpPr>
          <p:cNvPr id="16" name="card-331"/>
          <p:cNvSpPr/>
          <p:nvPr/>
        </p:nvSpPr>
        <p:spPr>
          <a:xfrm>
            <a:off x="457200" y="3511296"/>
            <a:ext cx="4754880" cy="548640"/>
          </a:xfrm>
          <a:prstGeom prst="roundRect">
            <a:avLst>
              <a:gd name="adj" fmla="val 11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-332"/>
          <p:cNvSpPr txBox="1"/>
          <p:nvPr/>
        </p:nvSpPr>
        <p:spPr>
          <a:xfrm>
            <a:off x="594360" y="3547872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FPOs and farmers</a:t>
            </a:r>
            <a:endParaRPr lang="en-US" sz="1150" dirty="0"/>
          </a:p>
        </p:txBody>
      </p:sp>
      <p:sp>
        <p:nvSpPr>
          <p:cNvPr id="18" name="text-333"/>
          <p:cNvSpPr txBox="1"/>
          <p:nvPr/>
        </p:nvSpPr>
        <p:spPr>
          <a:xfrm>
            <a:off x="2468880" y="3547872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crop-switch advisory in Hindi / Marathi / Telugu, spoken</a:t>
            </a:r>
            <a:endParaRPr lang="en-US" sz="1050" dirty="0"/>
          </a:p>
        </p:txBody>
      </p:sp>
      <p:sp>
        <p:nvSpPr>
          <p:cNvPr id="19" name="card-334"/>
          <p:cNvSpPr/>
          <p:nvPr/>
        </p:nvSpPr>
        <p:spPr>
          <a:xfrm>
            <a:off x="457200" y="4114800"/>
            <a:ext cx="4754880" cy="548640"/>
          </a:xfrm>
          <a:prstGeom prst="roundRect">
            <a:avLst>
              <a:gd name="adj" fmla="val 11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-335"/>
          <p:cNvSpPr txBox="1"/>
          <p:nvPr/>
        </p:nvSpPr>
        <p:spPr>
          <a:xfrm>
            <a:off x="594360" y="415137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Khushi Baby field network</a:t>
            </a:r>
            <a:endParaRPr lang="en-US" sz="1150" dirty="0"/>
          </a:p>
        </p:txBody>
      </p:sp>
      <p:sp>
        <p:nvSpPr>
          <p:cNvPr id="21" name="text-336"/>
          <p:cNvSpPr txBox="1"/>
          <p:nvPr/>
        </p:nvSpPr>
        <p:spPr>
          <a:xfrm>
            <a:off x="2468880" y="4151376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last-mile verification and delivery</a:t>
            </a:r>
            <a:endParaRPr lang="en-US" sz="1050" dirty="0"/>
          </a:p>
        </p:txBody>
      </p:sp>
      <p:sp>
        <p:nvSpPr>
          <p:cNvPr id="22" name="card-337"/>
          <p:cNvSpPr/>
          <p:nvPr/>
        </p:nvSpPr>
        <p:spPr>
          <a:xfrm>
            <a:off x="5440680" y="1097280"/>
            <a:ext cx="1572768" cy="749808"/>
          </a:xfrm>
          <a:prstGeom prst="roundRect">
            <a:avLst>
              <a:gd name="adj" fmla="val 853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3" name="text-338"/>
          <p:cNvSpPr txBox="1"/>
          <p:nvPr/>
        </p:nvSpPr>
        <p:spPr>
          <a:xfrm>
            <a:off x="5532120" y="1152144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190</a:t>
            </a:r>
            <a:endParaRPr lang="en-US" sz="2000" dirty="0"/>
          </a:p>
        </p:txBody>
      </p:sp>
      <p:sp>
        <p:nvSpPr>
          <p:cNvPr id="24" name="text-339"/>
          <p:cNvSpPr txBox="1"/>
          <p:nvPr/>
        </p:nvSpPr>
        <p:spPr>
          <a:xfrm>
            <a:off x="5532120" y="15544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districts need action (Rabi)</a:t>
            </a:r>
            <a:endParaRPr lang="en-US" sz="1000" dirty="0"/>
          </a:p>
        </p:txBody>
      </p:sp>
      <p:sp>
        <p:nvSpPr>
          <p:cNvPr id="25" name="card-340"/>
          <p:cNvSpPr/>
          <p:nvPr/>
        </p:nvSpPr>
        <p:spPr>
          <a:xfrm>
            <a:off x="7104888" y="1097280"/>
            <a:ext cx="1572768" cy="749808"/>
          </a:xfrm>
          <a:prstGeom prst="roundRect">
            <a:avLst>
              <a:gd name="adj" fmla="val 853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6" name="text-341"/>
          <p:cNvSpPr txBox="1"/>
          <p:nvPr/>
        </p:nvSpPr>
        <p:spPr>
          <a:xfrm>
            <a:off x="7196328" y="1152144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35.4 cr</a:t>
            </a:r>
            <a:endParaRPr lang="en-US" sz="2000" dirty="0"/>
          </a:p>
        </p:txBody>
      </p:sp>
      <p:sp>
        <p:nvSpPr>
          <p:cNvPr id="27" name="text-342"/>
          <p:cNvSpPr txBox="1"/>
          <p:nvPr/>
        </p:nvSpPr>
        <p:spPr>
          <a:xfrm>
            <a:off x="7196328" y="15544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people in them</a:t>
            </a:r>
            <a:endParaRPr lang="en-US" sz="1000" dirty="0"/>
          </a:p>
        </p:txBody>
      </p:sp>
      <p:sp>
        <p:nvSpPr>
          <p:cNvPr id="28" name="card-343"/>
          <p:cNvSpPr/>
          <p:nvPr/>
        </p:nvSpPr>
        <p:spPr>
          <a:xfrm>
            <a:off x="5440680" y="1938528"/>
            <a:ext cx="1572768" cy="749808"/>
          </a:xfrm>
          <a:prstGeom prst="roundRect">
            <a:avLst>
              <a:gd name="adj" fmla="val 853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9" name="text-344"/>
          <p:cNvSpPr txBox="1"/>
          <p:nvPr/>
        </p:nvSpPr>
        <p:spPr>
          <a:xfrm>
            <a:off x="5532120" y="199339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2.7 cr</a:t>
            </a:r>
            <a:endParaRPr lang="en-US" sz="2000" dirty="0"/>
          </a:p>
        </p:txBody>
      </p:sp>
      <p:sp>
        <p:nvSpPr>
          <p:cNvPr id="30" name="text-345"/>
          <p:cNvSpPr txBox="1"/>
          <p:nvPr/>
        </p:nvSpPr>
        <p:spPr>
          <a:xfrm>
            <a:off x="5532120" y="23957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children under 5</a:t>
            </a:r>
            <a:endParaRPr lang="en-US" sz="1000" dirty="0"/>
          </a:p>
        </p:txBody>
      </p:sp>
      <p:sp>
        <p:nvSpPr>
          <p:cNvPr id="31" name="card-346"/>
          <p:cNvSpPr/>
          <p:nvPr/>
        </p:nvSpPr>
        <p:spPr>
          <a:xfrm>
            <a:off x="7104888" y="1938528"/>
            <a:ext cx="1572768" cy="749808"/>
          </a:xfrm>
          <a:prstGeom prst="roundRect">
            <a:avLst>
              <a:gd name="adj" fmla="val 853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2" name="text-347"/>
          <p:cNvSpPr txBox="1"/>
          <p:nvPr/>
        </p:nvSpPr>
        <p:spPr>
          <a:xfrm>
            <a:off x="7196328" y="199339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753</a:t>
            </a:r>
            <a:endParaRPr lang="en-US" sz="2000" dirty="0"/>
          </a:p>
        </p:txBody>
      </p:sp>
      <p:sp>
        <p:nvSpPr>
          <p:cNvPr id="33" name="text-348"/>
          <p:cNvSpPr txBox="1"/>
          <p:nvPr/>
        </p:nvSpPr>
        <p:spPr>
          <a:xfrm>
            <a:off x="7196328" y="23957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districts scored</a:t>
            </a:r>
            <a:endParaRPr lang="en-US" sz="1000" dirty="0"/>
          </a:p>
        </p:txBody>
      </p:sp>
      <p:sp>
        <p:nvSpPr>
          <p:cNvPr id="34" name="text-349"/>
          <p:cNvSpPr txBox="1"/>
          <p:nvPr/>
        </p:nvSpPr>
        <p:spPr>
          <a:xfrm>
            <a:off x="5440680" y="283464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Lead time: from after-the-fact statistics to a season ahead</a:t>
            </a:r>
            <a:endParaRPr lang="en-US" sz="1150" dirty="0"/>
          </a:p>
        </p:txBody>
      </p:sp>
      <p:sp>
        <p:nvSpPr>
          <p:cNvPr id="35" name="text-350"/>
          <p:cNvSpPr txBox="1"/>
          <p:nvPr/>
        </p:nvSpPr>
        <p:spPr>
          <a:xfrm>
            <a:off x="5440680" y="3291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Go-to-market (proposed)</a:t>
            </a:r>
            <a:endParaRPr lang="en-US" sz="1200" dirty="0"/>
          </a:p>
        </p:txBody>
      </p:sp>
      <p:sp>
        <p:nvSpPr>
          <p:cNvPr id="36" name="text-351"/>
          <p:cNvSpPr txBox="1"/>
          <p:nvPr/>
        </p:nvSpPr>
        <p:spPr>
          <a:xfrm>
            <a:off x="5440680" y="3584448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Pilot with 1-2 state departments before the rabi window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District dashboards and field-team use before kharif 2027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Open code (MIT): any state can deploy on its own Cloud project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Honest limits, and what we build next</a:t>
            </a:r>
            <a:endParaRPr lang="en-US" sz="2400" dirty="0"/>
          </a:p>
        </p:txBody>
      </p:sp>
      <p:sp>
        <p:nvSpPr>
          <p:cNvPr id="4" name="card-352"/>
          <p:cNvSpPr/>
          <p:nvPr/>
        </p:nvSpPr>
        <p:spPr>
          <a:xfrm>
            <a:off x="457200" y="1051560"/>
            <a:ext cx="4023360" cy="3703320"/>
          </a:xfrm>
          <a:prstGeom prst="roundRect">
            <a:avLst>
              <a:gd name="adj" fmla="val 172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353"/>
          <p:cNvSpPr txBox="1"/>
          <p:nvPr/>
        </p:nvSpPr>
        <p:spPr>
          <a:xfrm>
            <a:off x="640080" y="111556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Limitations</a:t>
            </a:r>
            <a:endParaRPr lang="en-US" sz="1600" dirty="0"/>
          </a:p>
        </p:txBody>
      </p:sp>
      <p:sp>
        <p:nvSpPr>
          <p:cNvPr id="6" name="text-354"/>
          <p:cNvSpPr txBox="1"/>
          <p:nvPr/>
        </p:nvSpPr>
        <p:spPr>
          <a:xfrm>
            <a:off x="640080" y="1481328"/>
            <a:ext cx="370332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Consumption is normative (ICMR-NIN norm × projected population)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Buffer stock is national: 870 lmt central pool, no state-wise FCI stocks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NFHS about 4 years apart; NFHS-6 has no district anaemia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WeatherNext covers 10 days: in-season nowcast, not the annual outlook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Skill: analog hindcast is in-sample; LightGBM is leave-one-year-out, not a forecast backtest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LightGBM skill relies partly on previous-year deviation and state effects; TimesFM biased low; Poshan under-reports in some states (AP)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Gaps are imputed and flagged 'estimated' (417 districts have at least one); rabi is weak in label-gap states; La Niña flood rule flags few districts (3 high); rabi scored for 735 of 753</a:t>
            </a:r>
            <a:endParaRPr lang="en-US" sz="1100" dirty="0"/>
          </a:p>
        </p:txBody>
      </p:sp>
      <p:sp>
        <p:nvSpPr>
          <p:cNvPr id="7" name="card-355"/>
          <p:cNvSpPr/>
          <p:nvPr/>
        </p:nvSpPr>
        <p:spPr>
          <a:xfrm>
            <a:off x="4663440" y="1051560"/>
            <a:ext cx="4023360" cy="3703320"/>
          </a:xfrm>
          <a:prstGeom prst="roundRect">
            <a:avLst>
              <a:gd name="adj" fmla="val 172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-356"/>
          <p:cNvSpPr txBox="1"/>
          <p:nvPr/>
        </p:nvSpPr>
        <p:spPr>
          <a:xfrm>
            <a:off x="4846320" y="111556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Next steps</a:t>
            </a:r>
            <a:endParaRPr lang="en-US" sz="1600" dirty="0"/>
          </a:p>
        </p:txBody>
      </p:sp>
      <p:sp>
        <p:nvSpPr>
          <p:cNvPr id="9" name="text-357"/>
          <p:cNvSpPr txBox="1"/>
          <p:nvPr/>
        </p:nvSpPr>
        <p:spPr>
          <a:xfrm>
            <a:off x="4846320" y="1481328"/>
            <a:ext cx="370332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C3S seasonal ensembles for a true rainfall outlook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Spatial cross-validation and a true forecasting backtest for LightGBM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FCI state-wise stocks for the buffer view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ICAR contingency-plan RAG on Vertex AI Search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TabFM via BigQuery AI.PREDICT once available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WhatsApp farmer bot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Android field verification with Khushi Baby teams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58"/>
          <p:cNvSpPr txBox="1"/>
          <p:nvPr/>
        </p:nvSpPr>
        <p:spPr>
          <a:xfrm>
            <a:off x="548640" y="6400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AnnaDrishti</a:t>
            </a:r>
            <a:endParaRPr lang="en-US" sz="4400" dirty="0"/>
          </a:p>
        </p:txBody>
      </p:sp>
      <p:sp>
        <p:nvSpPr>
          <p:cNvPr id="3" name="text-359"/>
          <p:cNvSpPr txBox="1"/>
          <p:nvPr/>
        </p:nvSpPr>
        <p:spPr>
          <a:xfrm>
            <a:off x="548640" y="14630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 record El Niño is forming. Rabi sowing is weeks away. District decisions can start now.</a:t>
            </a:r>
            <a:endParaRPr lang="en-US" sz="2200" dirty="0"/>
          </a:p>
        </p:txBody>
      </p:sp>
      <p:sp>
        <p:nvSpPr>
          <p:cNvPr id="4" name="card-360"/>
          <p:cNvSpPr/>
          <p:nvPr/>
        </p:nvSpPr>
        <p:spPr>
          <a:xfrm>
            <a:off x="548640" y="2743200"/>
            <a:ext cx="4114800" cy="868680"/>
          </a:xfrm>
          <a:prstGeom prst="roundRect">
            <a:avLst>
              <a:gd name="adj" fmla="val 7368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" name="text-361"/>
          <p:cNvSpPr txBox="1"/>
          <p:nvPr/>
        </p:nvSpPr>
        <p:spPr>
          <a:xfrm>
            <a:off x="685800" y="28346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Live app (Cloud Run)</a:t>
            </a:r>
            <a:endParaRPr lang="en-US" sz="1100" dirty="0"/>
          </a:p>
        </p:txBody>
      </p:sp>
      <p:sp>
        <p:nvSpPr>
          <p:cNvPr id="6" name="text-362"/>
          <p:cNvSpPr txBox="1"/>
          <p:nvPr/>
        </p:nvSpPr>
        <p:spPr>
          <a:xfrm>
            <a:off x="685800" y="3154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https://annadrishti-801618653701.asia-south1.run.app</a:t>
            </a:r>
            <a:endParaRPr lang="en-US" sz="1100" dirty="0"/>
          </a:p>
        </p:txBody>
      </p:sp>
      <p:sp>
        <p:nvSpPr>
          <p:cNvPr id="7" name="card-363"/>
          <p:cNvSpPr/>
          <p:nvPr/>
        </p:nvSpPr>
        <p:spPr>
          <a:xfrm>
            <a:off x="4846320" y="2743200"/>
            <a:ext cx="1828800" cy="868680"/>
          </a:xfrm>
          <a:prstGeom prst="roundRect">
            <a:avLst>
              <a:gd name="adj" fmla="val 736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-364"/>
          <p:cNvSpPr txBox="1"/>
          <p:nvPr/>
        </p:nvSpPr>
        <p:spPr>
          <a:xfrm>
            <a:off x="4983480" y="28346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GitHub</a:t>
            </a:r>
            <a:endParaRPr lang="en-US" sz="1100" dirty="0"/>
          </a:p>
        </p:txBody>
      </p:sp>
      <p:sp>
        <p:nvSpPr>
          <p:cNvPr id="9" name="text-365"/>
          <p:cNvSpPr txBox="1"/>
          <p:nvPr/>
        </p:nvSpPr>
        <p:spPr>
          <a:xfrm>
            <a:off x="4983480" y="3154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&lt;GitHub URL&gt;</a:t>
            </a:r>
            <a:endParaRPr lang="en-US" sz="1300" dirty="0"/>
          </a:p>
        </p:txBody>
      </p:sp>
      <p:sp>
        <p:nvSpPr>
          <p:cNvPr id="10" name="card-366"/>
          <p:cNvSpPr/>
          <p:nvPr/>
        </p:nvSpPr>
        <p:spPr>
          <a:xfrm>
            <a:off x="6858000" y="2743200"/>
            <a:ext cx="1828800" cy="868680"/>
          </a:xfrm>
          <a:prstGeom prst="roundRect">
            <a:avLst>
              <a:gd name="adj" fmla="val 736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-367"/>
          <p:cNvSpPr txBox="1"/>
          <p:nvPr/>
        </p:nvSpPr>
        <p:spPr>
          <a:xfrm>
            <a:off x="6995160" y="28346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Demo video</a:t>
            </a:r>
            <a:endParaRPr lang="en-US" sz="1100" dirty="0"/>
          </a:p>
        </p:txBody>
      </p:sp>
      <p:sp>
        <p:nvSpPr>
          <p:cNvPr id="12" name="text-368"/>
          <p:cNvSpPr txBox="1"/>
          <p:nvPr/>
        </p:nvSpPr>
        <p:spPr>
          <a:xfrm>
            <a:off x="6995160" y="3154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&lt;video URL&gt;</a:t>
            </a:r>
            <a:endParaRPr lang="en-US" sz="1300" dirty="0"/>
          </a:p>
        </p:txBody>
      </p:sp>
      <p:sp>
        <p:nvSpPr>
          <p:cNvPr id="13" name="text-369"/>
          <p:cNvSpPr txBox="1"/>
          <p:nvPr/>
        </p:nvSpPr>
        <p:spPr>
          <a:xfrm>
            <a:off x="548640" y="37033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Next season runs itself: monthly ENSO refresh, daily live layers, annual crop update.</a:t>
            </a:r>
            <a:endParaRPr lang="en-US" sz="1300" dirty="0"/>
          </a:p>
        </p:txBody>
      </p:sp>
      <p:sp>
        <p:nvSpPr>
          <p:cNvPr id="14" name="text-370"/>
          <p:cNvSpPr txBox="1"/>
          <p:nvPr/>
        </p:nvSpPr>
        <p:spPr>
          <a:xfrm>
            <a:off x="548640" y="41148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The ask: back a rabi 2026-27 pilot with a state food and agriculture department; pre-position by 15 Nov 2026.</a:t>
            </a:r>
            <a:endParaRPr lang="en-US" sz="1500" dirty="0"/>
          </a:p>
        </p:txBody>
      </p:sp>
      <p:sp>
        <p:nvSpPr>
          <p:cNvPr id="15" name="text-371"/>
          <p:cNvSpPr txBox="1"/>
          <p:nvPr/>
        </p:nvSpPr>
        <p:spPr>
          <a:xfrm>
            <a:off x="548640" y="46634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Built on Google Cloud: Earth Engine · WeatherNext · Gemini · Cloud Run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nnaDrishti Dark">
  <a:themeElements>
    <a:clrScheme name="AnnaDrishti Dark">
      <a:dk1>
        <a:srgbClr val="EDEBE6"/>
      </a:dk1>
      <a:lt1>
        <a:srgbClr val="141821"/>
      </a:lt1>
      <a:dk2>
        <a:srgbClr val="9AA3B5"/>
      </a:dk2>
      <a:lt2>
        <a:srgbClr val="1E2430"/>
      </a:lt2>
      <a:accent1>
        <a:srgbClr val="F5B942"/>
      </a:accent1>
      <a:accent2>
        <a:srgbClr val="D64545"/>
      </a:accent2>
      <a:accent3>
        <a:srgbClr val="5FB89A"/>
      </a:accent3>
      <a:accent4>
        <a:srgbClr val="6FA8DC"/>
      </a:accent4>
      <a:accent5>
        <a:srgbClr val="343D50"/>
      </a:accent5>
      <a:accent6>
        <a:srgbClr val="E8833A"/>
      </a:accent6>
      <a:hlink>
        <a:srgbClr val="F5B942"/>
      </a:hlink>
      <a:folHlink>
        <a:srgbClr val="9AA3B5"/>
      </a:folHlink>
    </a:clrScheme>
    <a:fontScheme name="AnnaDrishti Dark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AnnaDrishti - Google Cloud AI Builder Cup 2026</dc:title>
  <dc:subject>PptxGenJS Presentation</dc:subject>
  <dc:creator>Team AnnaDrishti</dc:creator>
  <cp:lastModifiedBy>Team AnnaDrishti</cp:lastModifiedBy>
  <cp:revision>1</cp:revision>
  <dcterms:created xsi:type="dcterms:W3CDTF">2026-10-17T19:40:57Z</dcterms:created>
  <dcterms:modified xsi:type="dcterms:W3CDTF">2026-10-17T19:40:57Z</dcterms:modified>
</cp:coreProperties>
</file>